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351" r:id="rId3"/>
    <p:sldId id="352" r:id="rId4"/>
    <p:sldId id="362" r:id="rId5"/>
    <p:sldId id="353" r:id="rId6"/>
    <p:sldId id="355" r:id="rId7"/>
    <p:sldId id="356" r:id="rId8"/>
    <p:sldId id="357" r:id="rId9"/>
    <p:sldId id="363" r:id="rId10"/>
    <p:sldId id="358" r:id="rId11"/>
    <p:sldId id="359" r:id="rId12"/>
    <p:sldId id="360" r:id="rId13"/>
    <p:sldId id="365" r:id="rId14"/>
    <p:sldId id="367" r:id="rId15"/>
    <p:sldId id="366" r:id="rId16"/>
    <p:sldId id="399" r:id="rId17"/>
    <p:sldId id="400" r:id="rId18"/>
    <p:sldId id="402" r:id="rId19"/>
    <p:sldId id="388" r:id="rId20"/>
    <p:sldId id="382" r:id="rId21"/>
    <p:sldId id="383" r:id="rId22"/>
    <p:sldId id="389" r:id="rId23"/>
    <p:sldId id="390" r:id="rId24"/>
    <p:sldId id="379" r:id="rId25"/>
    <p:sldId id="376" r:id="rId26"/>
    <p:sldId id="377" r:id="rId27"/>
    <p:sldId id="378" r:id="rId28"/>
    <p:sldId id="380" r:id="rId29"/>
    <p:sldId id="375" r:id="rId30"/>
    <p:sldId id="381" r:id="rId31"/>
    <p:sldId id="384" r:id="rId32"/>
    <p:sldId id="385" r:id="rId33"/>
    <p:sldId id="403" r:id="rId34"/>
    <p:sldId id="404" r:id="rId35"/>
    <p:sldId id="405" r:id="rId36"/>
    <p:sldId id="406" r:id="rId37"/>
    <p:sldId id="386" r:id="rId38"/>
    <p:sldId id="387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60"/>
  </p:normalViewPr>
  <p:slideViewPr>
    <p:cSldViewPr snapToGrid="0">
      <p:cViewPr varScale="1">
        <p:scale>
          <a:sx n="136" d="100"/>
          <a:sy n="136" d="100"/>
        </p:scale>
        <p:origin x="322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42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1D4C21-B716-459D-951C-B00D70700FF9}" type="datetimeFigureOut">
              <a:rPr lang="en-GB" smtClean="0"/>
              <a:t>24/11/2021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1FF638-F25C-485D-9F32-ED71E4EC0E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671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8CA03-1A17-4421-9A76-D900092385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4F118B-65E9-4706-855E-B9BB10861B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B9C2F-B961-4C0F-9572-AB9489914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B0556-5172-4B34-8EEA-9C189FA6F084}" type="datetimeFigureOut">
              <a:rPr lang="en-GB" smtClean="0"/>
              <a:t>24/11/2021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1B809-1EF4-47D4-8301-B7811F9DA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9957A-6D81-494F-828C-A6EDC472E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BCB52-032C-4C52-B084-4E1F1CF389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688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79161-133D-4396-8D9A-0E4BBE473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785D9-116E-42BA-B0B0-FB7958976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8B9B9-D1BC-454C-8089-374E1AD26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B0556-5172-4B34-8EEA-9C189FA6F084}" type="datetimeFigureOut">
              <a:rPr lang="en-GB" smtClean="0"/>
              <a:t>24/11/2021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41EB5-1507-4FFE-AD72-38A1479D9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5806C-2651-44A0-8D20-930B753D7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BCB52-032C-4C52-B084-4E1F1CF389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4516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D23C7-33AA-4225-AAC7-B420381B8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542B49-FC83-49D8-9ACF-2CF085038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3CA33-4DBE-4F1A-A91E-B220D5D17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B0556-5172-4B34-8EEA-9C189FA6F084}" type="datetimeFigureOut">
              <a:rPr lang="en-GB" smtClean="0"/>
              <a:t>24/11/2021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91067-A5C1-4459-9A30-FDB7679B1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84B3F-3589-47F3-91A5-96EC7F121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BCB52-032C-4C52-B084-4E1F1CF389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68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39731-CFC6-4D07-9CF9-59CF3ACF3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161CF-8C8B-4115-800D-137C85DF48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67FC8F-6237-4C1F-ABB0-6E7C655D6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BEE50-184F-4D81-A439-14F408DF7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B0556-5172-4B34-8EEA-9C189FA6F084}" type="datetimeFigureOut">
              <a:rPr lang="en-GB" smtClean="0"/>
              <a:t>24/11/2021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55EDF-27E7-49D1-8FA4-BFC2B875E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A599E-CCE4-43FE-B85B-D912EDFC5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BCB52-032C-4C52-B084-4E1F1CF389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2701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37AC2-5C9F-4F26-9B4B-C8C0A25CB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5D8B5-8F91-4A86-A962-FD57AD33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C85605-DEBC-48FA-AD1A-005DC3956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9F7573-69A6-4559-B84D-CF47CDEF3B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418C96-C2EA-4934-961C-696BD356E0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45DE89-9781-4FD0-B708-B911178B6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B0556-5172-4B34-8EEA-9C189FA6F084}" type="datetimeFigureOut">
              <a:rPr lang="en-GB" smtClean="0"/>
              <a:t>24/11/2021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EFD4C1-7FDB-4A8B-B69D-CDC1B983D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29B212-4C3A-4C2F-B5B5-A20AFE6D6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BCB52-032C-4C52-B084-4E1F1CF389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9166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7D87C-2436-4BD7-8D9A-55CB7B430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D2BABE-1EFD-4544-825D-58B5D62E0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B0556-5172-4B34-8EEA-9C189FA6F084}" type="datetimeFigureOut">
              <a:rPr lang="en-GB" smtClean="0"/>
              <a:t>24/11/2021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3E5743-DEB4-4BBA-B2F7-EA7333178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4145D-997E-4D8C-B026-30184FF79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BCB52-032C-4C52-B084-4E1F1CF389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142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90D670-34AD-4156-BC4D-F7AA5BBBA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B0556-5172-4B34-8EEA-9C189FA6F084}" type="datetimeFigureOut">
              <a:rPr lang="en-GB" smtClean="0"/>
              <a:t>24/11/2021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26B733-9F18-4460-A39C-7F6A4142C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6CF4D-84D9-47C7-8B03-549F98D3C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BCB52-032C-4C52-B084-4E1F1CF389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4319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7EBD4-D9B5-4B5E-B3AB-192262FB8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833CD-D020-4B33-8440-1A1A8AFFA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7D84D-1153-41A3-BA7E-96893C90C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0BB0D-142A-453C-93C3-1371E8CC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B0556-5172-4B34-8EEA-9C189FA6F084}" type="datetimeFigureOut">
              <a:rPr lang="en-GB" smtClean="0"/>
              <a:t>24/11/2021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49AC76-C45C-48D6-A805-ABD2A551A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94975B-130E-4809-B91F-D67F28F35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BCB52-032C-4C52-B084-4E1F1CF389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8666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CA3F3-AA20-4503-A64B-02B7774B6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310E2-A262-46EE-BB79-7C6A444B83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F4F6B0-D1E7-46AF-B836-3B99F9BB7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4A66F-9786-4BBA-9F11-BCB57D84A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B0556-5172-4B34-8EEA-9C189FA6F084}" type="datetimeFigureOut">
              <a:rPr lang="en-GB" smtClean="0"/>
              <a:t>24/11/2021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6DBF7-496D-4648-8363-36E9C0EEA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E1399E-87A1-4373-A0B8-7E4F0E481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BCB52-032C-4C52-B084-4E1F1CF389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684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183BA-79B4-4377-AE03-AB9C48B5D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C3D1EC-409E-4251-A9E3-06470E7AD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29E5F-AF6B-4D08-816D-3B24E69E4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B0556-5172-4B34-8EEA-9C189FA6F084}" type="datetimeFigureOut">
              <a:rPr lang="en-GB" smtClean="0"/>
              <a:t>24/11/2021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5EFC0-5031-4744-8481-1564DB5F7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41F15-15F4-4E83-8765-B045BA5D8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BCB52-032C-4C52-B084-4E1F1CF389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8683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CA97D7-0C4F-42D6-91CF-1A95D7D81A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306A1E-4FBD-4AC4-9315-A62BD9C75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34812-B5BE-4989-9000-867B6562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B0556-5172-4B34-8EEA-9C189FA6F084}" type="datetimeFigureOut">
              <a:rPr lang="en-GB" smtClean="0"/>
              <a:t>24/11/2021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7889F-CDB5-46D9-B52C-80315EB5E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8B431-A029-4181-A16B-768A8183D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BCB52-032C-4C52-B084-4E1F1CF389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498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E0A56C-0E96-476F-A33A-C42967A50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C9AA8-AB02-419C-9D77-EAFA7824F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81AB0-0267-48F3-83D5-4DC91C7CE3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B0556-5172-4B34-8EEA-9C189FA6F084}" type="datetimeFigureOut">
              <a:rPr lang="en-GB" smtClean="0"/>
              <a:t>24/11/2021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2C088-D41D-4F50-BC8B-D4668583BC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140E2-2205-4490-8991-5C64E04B2E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BCB52-032C-4C52-B084-4E1F1CF389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3776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5.jpeg"/><Relationship Id="rId7" Type="http://schemas.openxmlformats.org/officeDocument/2006/relationships/image" Target="../media/image2.jpeg"/><Relationship Id="rId12" Type="http://schemas.openxmlformats.org/officeDocument/2006/relationships/image" Target="../media/image11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jpeg"/><Relationship Id="rId11" Type="http://schemas.openxmlformats.org/officeDocument/2006/relationships/image" Target="../media/image3.jpeg"/><Relationship Id="rId5" Type="http://schemas.openxmlformats.org/officeDocument/2006/relationships/image" Target="../media/image10.jpeg"/><Relationship Id="rId10" Type="http://schemas.openxmlformats.org/officeDocument/2006/relationships/image" Target="../media/image9.jpeg"/><Relationship Id="rId4" Type="http://schemas.openxmlformats.org/officeDocument/2006/relationships/image" Target="../media/image8.jpeg"/><Relationship Id="rId9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2.jpeg"/><Relationship Id="rId3" Type="http://schemas.openxmlformats.org/officeDocument/2006/relationships/image" Target="../media/image5.jpeg"/><Relationship Id="rId7" Type="http://schemas.openxmlformats.org/officeDocument/2006/relationships/image" Target="../media/image3.jpeg"/><Relationship Id="rId12" Type="http://schemas.openxmlformats.org/officeDocument/2006/relationships/image" Target="../media/image10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jpeg"/><Relationship Id="rId11" Type="http://schemas.openxmlformats.org/officeDocument/2006/relationships/image" Target="../media/image9.jpeg"/><Relationship Id="rId5" Type="http://schemas.openxmlformats.org/officeDocument/2006/relationships/image" Target="../media/image1.jpeg"/><Relationship Id="rId10" Type="http://schemas.openxmlformats.org/officeDocument/2006/relationships/image" Target="../media/image8.jpeg"/><Relationship Id="rId4" Type="http://schemas.openxmlformats.org/officeDocument/2006/relationships/image" Target="../media/image11.jpeg"/><Relationship Id="rId9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11" Type="http://schemas.openxmlformats.org/officeDocument/2006/relationships/image" Target="../media/image7.jpeg"/><Relationship Id="rId5" Type="http://schemas.openxmlformats.org/officeDocument/2006/relationships/image" Target="../media/image4.jpeg"/><Relationship Id="rId10" Type="http://schemas.openxmlformats.org/officeDocument/2006/relationships/image" Target="../media/image10.jpeg"/><Relationship Id="rId4" Type="http://schemas.openxmlformats.org/officeDocument/2006/relationships/image" Target="../media/image3.jpeg"/><Relationship Id="rId9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2.jpeg"/><Relationship Id="rId9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3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1.jpeg"/><Relationship Id="rId9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12" Type="http://schemas.openxmlformats.org/officeDocument/2006/relationships/image" Target="../media/image11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jpeg"/><Relationship Id="rId11" Type="http://schemas.openxmlformats.org/officeDocument/2006/relationships/image" Target="../media/image4.jpeg"/><Relationship Id="rId5" Type="http://schemas.openxmlformats.org/officeDocument/2006/relationships/image" Target="../media/image8.jpeg"/><Relationship Id="rId10" Type="http://schemas.openxmlformats.org/officeDocument/2006/relationships/image" Target="../media/image1.jpeg"/><Relationship Id="rId4" Type="http://schemas.openxmlformats.org/officeDocument/2006/relationships/image" Target="../media/image7.jpeg"/><Relationship Id="rId9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13" Type="http://schemas.openxmlformats.org/officeDocument/2006/relationships/image" Target="../media/image14.jpe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12" Type="http://schemas.openxmlformats.org/officeDocument/2006/relationships/image" Target="../media/image11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jpeg"/><Relationship Id="rId11" Type="http://schemas.openxmlformats.org/officeDocument/2006/relationships/image" Target="../media/image4.jpeg"/><Relationship Id="rId5" Type="http://schemas.openxmlformats.org/officeDocument/2006/relationships/image" Target="../media/image8.jpeg"/><Relationship Id="rId10" Type="http://schemas.openxmlformats.org/officeDocument/2006/relationships/image" Target="../media/image1.jpeg"/><Relationship Id="rId4" Type="http://schemas.openxmlformats.org/officeDocument/2006/relationships/image" Target="../media/image7.jpeg"/><Relationship Id="rId9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drivendata.org/competitions/73/noaa-magnetic-forecasting/" TargetMode="Externa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26.png"/><Relationship Id="rId7" Type="http://schemas.openxmlformats.org/officeDocument/2006/relationships/image" Target="../media/image90.png"/><Relationship Id="rId12" Type="http://schemas.openxmlformats.org/officeDocument/2006/relationships/image" Target="../media/image14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0.png"/><Relationship Id="rId11" Type="http://schemas.openxmlformats.org/officeDocument/2006/relationships/image" Target="../media/image13.png"/><Relationship Id="rId5" Type="http://schemas.openxmlformats.org/officeDocument/2006/relationships/image" Target="../media/image70.png"/><Relationship Id="rId10" Type="http://schemas.openxmlformats.org/officeDocument/2006/relationships/image" Target="../media/image120.png"/><Relationship Id="rId4" Type="http://schemas.microsoft.com/office/2007/relationships/hdphoto" Target="../media/hdphoto1.wdp"/><Relationship Id="rId9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0.png"/><Relationship Id="rId4" Type="http://schemas.openxmlformats.org/officeDocument/2006/relationships/image" Target="../media/image16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hyperlink" Target="https://www.analyticsvidhya.com/blog/2020/03/beginners-guide-random-forest-hyperparameter-tuning/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yticsvidhya.com/blog/2020/03/beginners-guide-random-forest-hyperparameter-tuning/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0.png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hyperlink" Target="https://www.analyticsvidhya.com/blog/2020/03/beginners-guide-random-forest-hyperparameter-tuning/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hyperlink" Target="https://www.analyticsvidhya.com/blog/2020/03/beginners-guide-random-forest-hyperparameter-tuning/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02/2017GL074677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02/2017GL074677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camp.com/community/tutorials/random-forests-classifier-python" TargetMode="External"/><Relationship Id="rId2" Type="http://schemas.openxmlformats.org/officeDocument/2006/relationships/hyperlink" Target="https://towardsdatascience.com/random-forest-in-python-24d0893d51c0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ackabuse.com/random-forest-algorithm-with-python-and-scikit-learn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playlist?list=PLl8OlHZGYOQ7bkVbuRthEsaLr7bONzbXS" TargetMode="External"/><Relationship Id="rId2" Type="http://schemas.openxmlformats.org/officeDocument/2006/relationships/hyperlink" Target="http://www.cs.cornell.edu/courses/cs4780/2018fa/lecture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083F0-45F1-433C-A17D-C5B49C8E11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Random Forests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8B50C0-2996-4ABD-A8E7-F04500D58F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240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Predicting Laboratory Earthquakes from Acoustic Emissions </a:t>
            </a:r>
            <a:endParaRPr lang="en-GB" dirty="0"/>
          </a:p>
          <a:p>
            <a:endParaRPr lang="en-GB" dirty="0"/>
          </a:p>
          <a:p>
            <a:r>
              <a:rPr lang="en-GB" dirty="0"/>
              <a:t>Dr Thomas Berndt</a:t>
            </a:r>
          </a:p>
        </p:txBody>
      </p:sp>
    </p:spTree>
    <p:extLst>
      <p:ext uri="{BB962C8B-B14F-4D97-AF65-F5344CB8AC3E}">
        <p14:creationId xmlns:p14="http://schemas.microsoft.com/office/powerpoint/2010/main" val="1237243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40F72-E887-4CBC-823B-C6BAB32BB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85822-C580-4A81-8D76-6E2FE52E8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2877"/>
            <a:ext cx="10515600" cy="4704086"/>
          </a:xfrm>
        </p:spPr>
        <p:txBody>
          <a:bodyPr/>
          <a:lstStyle/>
          <a:p>
            <a:r>
              <a:rPr lang="en-US" dirty="0"/>
              <a:t>Is it an animal or a fruit?</a:t>
            </a:r>
          </a:p>
          <a:p>
            <a:r>
              <a:rPr lang="en-US" dirty="0"/>
              <a:t>Features: Weight, shape, color, fur.</a:t>
            </a:r>
            <a:endParaRPr lang="en-GB" dirty="0"/>
          </a:p>
        </p:txBody>
      </p:sp>
      <p:pic>
        <p:nvPicPr>
          <p:cNvPr id="1026" name="Picture 2" descr="What has more vitamin C than oranges? | Jupiter Marketing Ltd">
            <a:extLst>
              <a:ext uri="{FF2B5EF4-FFF2-40B4-BE49-F238E27FC236}">
                <a16:creationId xmlns:a16="http://schemas.microsoft.com/office/drawing/2014/main" id="{9DE65695-5F4F-4708-8D26-00073486A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5607" y="2177415"/>
            <a:ext cx="258127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each &amp; Nectarine – BeFresh">
            <a:extLst>
              <a:ext uri="{FF2B5EF4-FFF2-40B4-BE49-F238E27FC236}">
                <a16:creationId xmlns:a16="http://schemas.microsoft.com/office/drawing/2014/main" id="{6AFFCE0F-21D8-4458-852D-8047543FC4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2" t="18970" r="7082" b="18970"/>
          <a:stretch/>
        </p:blipFill>
        <p:spPr bwMode="auto">
          <a:xfrm>
            <a:off x="9112857" y="3824920"/>
            <a:ext cx="1765978" cy="1377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uilding A Better Banana | Science | Smithsonian Magazine">
            <a:extLst>
              <a:ext uri="{FF2B5EF4-FFF2-40B4-BE49-F238E27FC236}">
                <a16:creationId xmlns:a16="http://schemas.microsoft.com/office/drawing/2014/main" id="{68E41B8A-5749-477F-9AFD-B86B480F5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168" y="4905776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hy Nobody Can Copy Apple | cek.log">
            <a:extLst>
              <a:ext uri="{FF2B5EF4-FFF2-40B4-BE49-F238E27FC236}">
                <a16:creationId xmlns:a16="http://schemas.microsoft.com/office/drawing/2014/main" id="{192F2EFA-7CDA-4C89-B399-32C184A86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541" y="2628900"/>
            <a:ext cx="2181225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atermelon driving Korean-grown trend">
            <a:extLst>
              <a:ext uri="{FF2B5EF4-FFF2-40B4-BE49-F238E27FC236}">
                <a16:creationId xmlns:a16="http://schemas.microsoft.com/office/drawing/2014/main" id="{5CB20D0F-A43F-4BF3-9BB4-4B3F021740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83" r="14983"/>
          <a:stretch/>
        </p:blipFill>
        <p:spPr bwMode="auto">
          <a:xfrm>
            <a:off x="7251713" y="3354305"/>
            <a:ext cx="1861144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FDA investigates possible link between dog foods and heart disease">
            <a:extLst>
              <a:ext uri="{FF2B5EF4-FFF2-40B4-BE49-F238E27FC236}">
                <a16:creationId xmlns:a16="http://schemas.microsoft.com/office/drawing/2014/main" id="{A1A5258D-CD06-4477-A570-96AE793DC6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3" r="22633"/>
          <a:stretch/>
        </p:blipFill>
        <p:spPr bwMode="auto">
          <a:xfrm>
            <a:off x="1078029" y="2628900"/>
            <a:ext cx="1564044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Make your hamster feel at home | Wood Green - The Animals Charity">
            <a:extLst>
              <a:ext uri="{FF2B5EF4-FFF2-40B4-BE49-F238E27FC236}">
                <a16:creationId xmlns:a16="http://schemas.microsoft.com/office/drawing/2014/main" id="{F7D4BCAA-21F6-48CF-AF4F-CA5B8BDBBD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27" r="15727"/>
          <a:stretch/>
        </p:blipFill>
        <p:spPr bwMode="auto">
          <a:xfrm>
            <a:off x="624637" y="4759325"/>
            <a:ext cx="2017436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40F3E047-AEEB-4877-96D4-69ED45B307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98"/>
          <a:stretch/>
        </p:blipFill>
        <p:spPr bwMode="auto">
          <a:xfrm>
            <a:off x="7320028" y="1655750"/>
            <a:ext cx="2148798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Thinking of getting a cat? | International Cat Care">
            <a:extLst>
              <a:ext uri="{FF2B5EF4-FFF2-40B4-BE49-F238E27FC236}">
                <a16:creationId xmlns:a16="http://schemas.microsoft.com/office/drawing/2014/main" id="{647FAEFB-6B32-450A-906D-6E1A0ACF39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9" r="17679"/>
          <a:stretch/>
        </p:blipFill>
        <p:spPr bwMode="auto">
          <a:xfrm>
            <a:off x="9845093" y="5239151"/>
            <a:ext cx="2148798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Can Parrots Really Talk? | Wonderopolis">
            <a:extLst>
              <a:ext uri="{FF2B5EF4-FFF2-40B4-BE49-F238E27FC236}">
                <a16:creationId xmlns:a16="http://schemas.microsoft.com/office/drawing/2014/main" id="{BD511EA5-2FF7-441D-A9B0-42F7C5D754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3" r="8803"/>
          <a:stretch/>
        </p:blipFill>
        <p:spPr bwMode="auto">
          <a:xfrm>
            <a:off x="5603825" y="5078330"/>
            <a:ext cx="222885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Lychee, Longan and Rambutan: Why You Need to Be Eating These Cool, Juicy,  Exotic Asian Fruits This Summer - One Green Planet">
            <a:extLst>
              <a:ext uri="{FF2B5EF4-FFF2-40B4-BE49-F238E27FC236}">
                <a16:creationId xmlns:a16="http://schemas.microsoft.com/office/drawing/2014/main" id="{66338639-EB8A-4950-BEDA-658B288087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596"/>
          <a:stretch/>
        </p:blipFill>
        <p:spPr bwMode="auto">
          <a:xfrm>
            <a:off x="5058766" y="3256572"/>
            <a:ext cx="198566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2065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40F72-E887-4CBC-823B-C6BAB32BB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  <a:endParaRPr lang="en-GB" dirty="0"/>
          </a:p>
        </p:txBody>
      </p:sp>
      <p:pic>
        <p:nvPicPr>
          <p:cNvPr id="1026" name="Picture 2" descr="What has more vitamin C than oranges? | Jupiter Marketing Ltd">
            <a:extLst>
              <a:ext uri="{FF2B5EF4-FFF2-40B4-BE49-F238E27FC236}">
                <a16:creationId xmlns:a16="http://schemas.microsoft.com/office/drawing/2014/main" id="{9DE65695-5F4F-4708-8D26-00073486A9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2" b="8243"/>
          <a:stretch/>
        </p:blipFill>
        <p:spPr bwMode="auto">
          <a:xfrm>
            <a:off x="2626830" y="5242580"/>
            <a:ext cx="2581275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each &amp; Nectarine – BeFresh">
            <a:extLst>
              <a:ext uri="{FF2B5EF4-FFF2-40B4-BE49-F238E27FC236}">
                <a16:creationId xmlns:a16="http://schemas.microsoft.com/office/drawing/2014/main" id="{6AFFCE0F-21D8-4458-852D-8047543FC4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96" b="16296"/>
          <a:stretch/>
        </p:blipFill>
        <p:spPr bwMode="auto">
          <a:xfrm>
            <a:off x="2773463" y="3548484"/>
            <a:ext cx="2057400" cy="1496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uilding A Better Banana | Science | Smithsonian Magazine">
            <a:extLst>
              <a:ext uri="{FF2B5EF4-FFF2-40B4-BE49-F238E27FC236}">
                <a16:creationId xmlns:a16="http://schemas.microsoft.com/office/drawing/2014/main" id="{68E41B8A-5749-477F-9AFD-B86B480F59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9" t="5826" r="2919" b="7135"/>
          <a:stretch/>
        </p:blipFill>
        <p:spPr bwMode="auto">
          <a:xfrm>
            <a:off x="6888249" y="5173147"/>
            <a:ext cx="2322946" cy="1608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hy Nobody Can Copy Apple | cek.log">
            <a:extLst>
              <a:ext uri="{FF2B5EF4-FFF2-40B4-BE49-F238E27FC236}">
                <a16:creationId xmlns:a16="http://schemas.microsoft.com/office/drawing/2014/main" id="{192F2EFA-7CDA-4C89-B399-32C184A86C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7" r="7257"/>
          <a:stretch/>
        </p:blipFill>
        <p:spPr bwMode="auto">
          <a:xfrm>
            <a:off x="9418537" y="4647971"/>
            <a:ext cx="1776982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atermelon driving Korean-grown trend">
            <a:extLst>
              <a:ext uri="{FF2B5EF4-FFF2-40B4-BE49-F238E27FC236}">
                <a16:creationId xmlns:a16="http://schemas.microsoft.com/office/drawing/2014/main" id="{5CB20D0F-A43F-4BF3-9BB4-4B3F021740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7" t="10874" r="14983" b="5878"/>
          <a:stretch/>
        </p:blipFill>
        <p:spPr bwMode="auto">
          <a:xfrm>
            <a:off x="9851666" y="3693380"/>
            <a:ext cx="1713822" cy="143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FDA investigates possible link between dog foods and heart disease">
            <a:extLst>
              <a:ext uri="{FF2B5EF4-FFF2-40B4-BE49-F238E27FC236}">
                <a16:creationId xmlns:a16="http://schemas.microsoft.com/office/drawing/2014/main" id="{A1A5258D-CD06-4477-A570-96AE793DC6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3" r="22633"/>
          <a:stretch/>
        </p:blipFill>
        <p:spPr bwMode="auto">
          <a:xfrm>
            <a:off x="781343" y="2263140"/>
            <a:ext cx="1564044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Make your hamster feel at home | Wood Green - The Animals Charity">
            <a:extLst>
              <a:ext uri="{FF2B5EF4-FFF2-40B4-BE49-F238E27FC236}">
                <a16:creationId xmlns:a16="http://schemas.microsoft.com/office/drawing/2014/main" id="{F7D4BCAA-21F6-48CF-AF4F-CA5B8BDBBD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27" r="15727"/>
          <a:stretch/>
        </p:blipFill>
        <p:spPr bwMode="auto">
          <a:xfrm>
            <a:off x="536078" y="4393260"/>
            <a:ext cx="2017436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40F3E047-AEEB-4877-96D4-69ED45B307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98"/>
          <a:stretch/>
        </p:blipFill>
        <p:spPr bwMode="auto">
          <a:xfrm>
            <a:off x="7316339" y="2297761"/>
            <a:ext cx="2148798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Thinking of getting a cat? | International Cat Care">
            <a:extLst>
              <a:ext uri="{FF2B5EF4-FFF2-40B4-BE49-F238E27FC236}">
                <a16:creationId xmlns:a16="http://schemas.microsoft.com/office/drawing/2014/main" id="{647FAEFB-6B32-450A-906D-6E1A0ACF39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9" r="17679"/>
          <a:stretch/>
        </p:blipFill>
        <p:spPr bwMode="auto">
          <a:xfrm>
            <a:off x="2626830" y="2034009"/>
            <a:ext cx="2148798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Can Parrots Really Talk? | Wonderopolis">
            <a:extLst>
              <a:ext uri="{FF2B5EF4-FFF2-40B4-BE49-F238E27FC236}">
                <a16:creationId xmlns:a16="http://schemas.microsoft.com/office/drawing/2014/main" id="{BD511EA5-2FF7-441D-A9B0-42F7C5D754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3" r="8803"/>
          <a:stretch/>
        </p:blipFill>
        <p:spPr bwMode="auto">
          <a:xfrm>
            <a:off x="9575607" y="1885319"/>
            <a:ext cx="222885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3A0306-C22B-40B6-B1D4-1DEAC75A0295}"/>
              </a:ext>
            </a:extLst>
          </p:cNvPr>
          <p:cNvSpPr txBox="1"/>
          <p:nvPr/>
        </p:nvSpPr>
        <p:spPr>
          <a:xfrm>
            <a:off x="4717187" y="1558313"/>
            <a:ext cx="2507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Does it have a fur?</a:t>
            </a:r>
            <a:endParaRPr lang="en-GB" sz="2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1BD53A7-7B17-4786-8035-404E65E504A3}"/>
              </a:ext>
            </a:extLst>
          </p:cNvPr>
          <p:cNvCxnSpPr/>
          <p:nvPr/>
        </p:nvCxnSpPr>
        <p:spPr>
          <a:xfrm flipH="1">
            <a:off x="5013297" y="21190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D2AF10F-A5DB-4F73-8564-240A1E2B87F2}"/>
              </a:ext>
            </a:extLst>
          </p:cNvPr>
          <p:cNvCxnSpPr>
            <a:cxnSpLocks/>
          </p:cNvCxnSpPr>
          <p:nvPr/>
        </p:nvCxnSpPr>
        <p:spPr>
          <a:xfrm>
            <a:off x="6345161" y="21190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0C2AA36-FB3D-431B-AB84-07559C71D149}"/>
              </a:ext>
            </a:extLst>
          </p:cNvPr>
          <p:cNvSpPr txBox="1"/>
          <p:nvPr/>
        </p:nvSpPr>
        <p:spPr>
          <a:xfrm>
            <a:off x="5108228" y="2514493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0C014A-A8AB-46B7-84A5-75A51B56FA2A}"/>
              </a:ext>
            </a:extLst>
          </p:cNvPr>
          <p:cNvSpPr txBox="1"/>
          <p:nvPr/>
        </p:nvSpPr>
        <p:spPr>
          <a:xfrm>
            <a:off x="6051491" y="2514493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pic>
        <p:nvPicPr>
          <p:cNvPr id="7" name="Picture 22" descr="Lychee, Longan and Rambutan: Why You Need to Be Eating These Cool, Juicy,  Exotic Asian Fruits This Summer - One Green Planet">
            <a:extLst>
              <a:ext uri="{FF2B5EF4-FFF2-40B4-BE49-F238E27FC236}">
                <a16:creationId xmlns:a16="http://schemas.microsoft.com/office/drawing/2014/main" id="{B5B50464-0550-419A-8275-0D2043CEA3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596"/>
          <a:stretch/>
        </p:blipFill>
        <p:spPr bwMode="auto">
          <a:xfrm>
            <a:off x="7812363" y="4296487"/>
            <a:ext cx="1606174" cy="136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380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40F72-E887-4CBC-823B-C6BAB32BB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  <a:endParaRPr lang="en-GB" dirty="0"/>
          </a:p>
        </p:txBody>
      </p:sp>
      <p:pic>
        <p:nvPicPr>
          <p:cNvPr id="1032" name="Picture 8" descr="Why Nobody Can Copy Apple | cek.log">
            <a:extLst>
              <a:ext uri="{FF2B5EF4-FFF2-40B4-BE49-F238E27FC236}">
                <a16:creationId xmlns:a16="http://schemas.microsoft.com/office/drawing/2014/main" id="{192F2EFA-7CDA-4C89-B399-32C184A86C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7" r="7257"/>
          <a:stretch/>
        </p:blipFill>
        <p:spPr bwMode="auto">
          <a:xfrm>
            <a:off x="9418537" y="4647971"/>
            <a:ext cx="1776982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atermelon driving Korean-grown trend">
            <a:extLst>
              <a:ext uri="{FF2B5EF4-FFF2-40B4-BE49-F238E27FC236}">
                <a16:creationId xmlns:a16="http://schemas.microsoft.com/office/drawing/2014/main" id="{5CB20D0F-A43F-4BF3-9BB4-4B3F021740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7" t="10874" r="14983" b="5878"/>
          <a:stretch/>
        </p:blipFill>
        <p:spPr bwMode="auto">
          <a:xfrm>
            <a:off x="9851666" y="3693380"/>
            <a:ext cx="1713822" cy="143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40F3E047-AEEB-4877-96D4-69ED45B307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98"/>
          <a:stretch/>
        </p:blipFill>
        <p:spPr bwMode="auto">
          <a:xfrm>
            <a:off x="7316339" y="2297761"/>
            <a:ext cx="2148798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Can Parrots Really Talk? | Wonderopolis">
            <a:extLst>
              <a:ext uri="{FF2B5EF4-FFF2-40B4-BE49-F238E27FC236}">
                <a16:creationId xmlns:a16="http://schemas.microsoft.com/office/drawing/2014/main" id="{BD511EA5-2FF7-441D-A9B0-42F7C5D754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3" r="8803"/>
          <a:stretch/>
        </p:blipFill>
        <p:spPr bwMode="auto">
          <a:xfrm>
            <a:off x="9575607" y="1885319"/>
            <a:ext cx="222885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3A0306-C22B-40B6-B1D4-1DEAC75A0295}"/>
              </a:ext>
            </a:extLst>
          </p:cNvPr>
          <p:cNvSpPr txBox="1"/>
          <p:nvPr/>
        </p:nvSpPr>
        <p:spPr>
          <a:xfrm>
            <a:off x="4717187" y="1558313"/>
            <a:ext cx="2507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Does it have a fur?</a:t>
            </a:r>
            <a:endParaRPr lang="en-GB" sz="2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1BD53A7-7B17-4786-8035-404E65E504A3}"/>
              </a:ext>
            </a:extLst>
          </p:cNvPr>
          <p:cNvCxnSpPr/>
          <p:nvPr/>
        </p:nvCxnSpPr>
        <p:spPr>
          <a:xfrm flipH="1">
            <a:off x="5013297" y="21190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D2AF10F-A5DB-4F73-8564-240A1E2B87F2}"/>
              </a:ext>
            </a:extLst>
          </p:cNvPr>
          <p:cNvCxnSpPr>
            <a:cxnSpLocks/>
          </p:cNvCxnSpPr>
          <p:nvPr/>
        </p:nvCxnSpPr>
        <p:spPr>
          <a:xfrm>
            <a:off x="6345161" y="21190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0C2AA36-FB3D-431B-AB84-07559C71D149}"/>
              </a:ext>
            </a:extLst>
          </p:cNvPr>
          <p:cNvSpPr txBox="1"/>
          <p:nvPr/>
        </p:nvSpPr>
        <p:spPr>
          <a:xfrm>
            <a:off x="5108228" y="2514493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0C014A-A8AB-46B7-84A5-75A51B56FA2A}"/>
              </a:ext>
            </a:extLst>
          </p:cNvPr>
          <p:cNvSpPr txBox="1"/>
          <p:nvPr/>
        </p:nvSpPr>
        <p:spPr>
          <a:xfrm>
            <a:off x="6051491" y="2514493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pic>
        <p:nvPicPr>
          <p:cNvPr id="20" name="Picture 2" descr="What has more vitamin C than oranges? | Jupiter Marketing Ltd">
            <a:extLst>
              <a:ext uri="{FF2B5EF4-FFF2-40B4-BE49-F238E27FC236}">
                <a16:creationId xmlns:a16="http://schemas.microsoft.com/office/drawing/2014/main" id="{8C57980B-908F-41BB-972D-3CA9FEF609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2" b="8243"/>
          <a:stretch/>
        </p:blipFill>
        <p:spPr bwMode="auto">
          <a:xfrm>
            <a:off x="249661" y="5190896"/>
            <a:ext cx="2581275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Peach &amp; Nectarine – BeFresh">
            <a:extLst>
              <a:ext uri="{FF2B5EF4-FFF2-40B4-BE49-F238E27FC236}">
                <a16:creationId xmlns:a16="http://schemas.microsoft.com/office/drawing/2014/main" id="{3142EDE2-FFB3-4F99-B6FC-7586114E43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96" b="16296"/>
          <a:stretch/>
        </p:blipFill>
        <p:spPr bwMode="auto">
          <a:xfrm>
            <a:off x="138355" y="3599083"/>
            <a:ext cx="2057400" cy="1496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2" descr="FDA investigates possible link between dog foods and heart disease">
            <a:extLst>
              <a:ext uri="{FF2B5EF4-FFF2-40B4-BE49-F238E27FC236}">
                <a16:creationId xmlns:a16="http://schemas.microsoft.com/office/drawing/2014/main" id="{86945E63-F154-4303-B0D6-8B05F5410B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3" r="22633"/>
          <a:stretch/>
        </p:blipFill>
        <p:spPr bwMode="auto">
          <a:xfrm>
            <a:off x="3483549" y="3183430"/>
            <a:ext cx="1241689" cy="1270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4" descr="Make your hamster feel at home | Wood Green - The Animals Charity">
            <a:extLst>
              <a:ext uri="{FF2B5EF4-FFF2-40B4-BE49-F238E27FC236}">
                <a16:creationId xmlns:a16="http://schemas.microsoft.com/office/drawing/2014/main" id="{307D3BF9-2EBB-4F68-AE93-EA032A6E2F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27" r="15727"/>
          <a:stretch/>
        </p:blipFill>
        <p:spPr bwMode="auto">
          <a:xfrm>
            <a:off x="3488487" y="4500153"/>
            <a:ext cx="1501125" cy="1155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8" descr="Thinking of getting a cat? | International Cat Care">
            <a:extLst>
              <a:ext uri="{FF2B5EF4-FFF2-40B4-BE49-F238E27FC236}">
                <a16:creationId xmlns:a16="http://schemas.microsoft.com/office/drawing/2014/main" id="{1168A94E-BD92-4965-84FD-4059346FB9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9" r="22016"/>
          <a:stretch/>
        </p:blipFill>
        <p:spPr bwMode="auto">
          <a:xfrm>
            <a:off x="3488487" y="5685183"/>
            <a:ext cx="1501125" cy="1126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B8F68C0-69DA-4F32-9FA7-639C04D9149E}"/>
              </a:ext>
            </a:extLst>
          </p:cNvPr>
          <p:cNvSpPr txBox="1"/>
          <p:nvPr/>
        </p:nvSpPr>
        <p:spPr>
          <a:xfrm>
            <a:off x="1427532" y="2414053"/>
            <a:ext cx="3587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Does it have a bright color?</a:t>
            </a:r>
            <a:endParaRPr lang="en-GB" sz="24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9778FCD-D7AA-4669-932D-F92E71F41834}"/>
              </a:ext>
            </a:extLst>
          </p:cNvPr>
          <p:cNvCxnSpPr/>
          <p:nvPr/>
        </p:nvCxnSpPr>
        <p:spPr>
          <a:xfrm flipH="1">
            <a:off x="1513484" y="29071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6BE4148-0938-4FA0-87D8-1E27D4066B5C}"/>
              </a:ext>
            </a:extLst>
          </p:cNvPr>
          <p:cNvCxnSpPr>
            <a:cxnSpLocks/>
          </p:cNvCxnSpPr>
          <p:nvPr/>
        </p:nvCxnSpPr>
        <p:spPr>
          <a:xfrm>
            <a:off x="2845348" y="29071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47E7082-EBC5-49BD-BEB8-EBC7B42A4DAD}"/>
              </a:ext>
            </a:extLst>
          </p:cNvPr>
          <p:cNvSpPr txBox="1"/>
          <p:nvPr/>
        </p:nvSpPr>
        <p:spPr>
          <a:xfrm>
            <a:off x="1608415" y="3302593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BF7699-4DFE-4BDD-8928-DCF1854F57FB}"/>
              </a:ext>
            </a:extLst>
          </p:cNvPr>
          <p:cNvSpPr txBox="1"/>
          <p:nvPr/>
        </p:nvSpPr>
        <p:spPr>
          <a:xfrm>
            <a:off x="2551678" y="3302593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pic>
        <p:nvPicPr>
          <p:cNvPr id="4" name="Picture 6" descr="Building A Better Banana | Science | Smithsonian Magazine">
            <a:extLst>
              <a:ext uri="{FF2B5EF4-FFF2-40B4-BE49-F238E27FC236}">
                <a16:creationId xmlns:a16="http://schemas.microsoft.com/office/drawing/2014/main" id="{CCA1284E-CB79-4C96-9F68-385844C880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9" t="5826" r="2919" b="7135"/>
          <a:stretch/>
        </p:blipFill>
        <p:spPr bwMode="auto">
          <a:xfrm>
            <a:off x="6888249" y="5173147"/>
            <a:ext cx="2322946" cy="1608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2" descr="Lychee, Longan and Rambutan: Why You Need to Be Eating These Cool, Juicy,  Exotic Asian Fruits This Summer - One Green Planet">
            <a:extLst>
              <a:ext uri="{FF2B5EF4-FFF2-40B4-BE49-F238E27FC236}">
                <a16:creationId xmlns:a16="http://schemas.microsoft.com/office/drawing/2014/main" id="{5D2C86CA-0F10-4FD3-AD67-88614E2313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596"/>
          <a:stretch/>
        </p:blipFill>
        <p:spPr bwMode="auto">
          <a:xfrm>
            <a:off x="7812363" y="4296487"/>
            <a:ext cx="1606174" cy="136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9321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40F72-E887-4CBC-823B-C6BAB32BB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  <a:endParaRPr lang="en-GB" dirty="0"/>
          </a:p>
        </p:txBody>
      </p:sp>
      <p:pic>
        <p:nvPicPr>
          <p:cNvPr id="1026" name="Picture 2" descr="What has more vitamin C than oranges? | Jupiter Marketing Ltd">
            <a:extLst>
              <a:ext uri="{FF2B5EF4-FFF2-40B4-BE49-F238E27FC236}">
                <a16:creationId xmlns:a16="http://schemas.microsoft.com/office/drawing/2014/main" id="{9DE65695-5F4F-4708-8D26-00073486A9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2" b="8243"/>
          <a:stretch/>
        </p:blipFill>
        <p:spPr bwMode="auto">
          <a:xfrm>
            <a:off x="249661" y="5190896"/>
            <a:ext cx="2581275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each &amp; Nectarine – BeFresh">
            <a:extLst>
              <a:ext uri="{FF2B5EF4-FFF2-40B4-BE49-F238E27FC236}">
                <a16:creationId xmlns:a16="http://schemas.microsoft.com/office/drawing/2014/main" id="{6AFFCE0F-21D8-4458-852D-8047543FC4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96" b="16296"/>
          <a:stretch/>
        </p:blipFill>
        <p:spPr bwMode="auto">
          <a:xfrm>
            <a:off x="138355" y="3599083"/>
            <a:ext cx="2057400" cy="1496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uilding A Better Banana | Science | Smithsonian Magazine">
            <a:extLst>
              <a:ext uri="{FF2B5EF4-FFF2-40B4-BE49-F238E27FC236}">
                <a16:creationId xmlns:a16="http://schemas.microsoft.com/office/drawing/2014/main" id="{68E41B8A-5749-477F-9AFD-B86B480F59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9" t="5826" r="2919" b="7135"/>
          <a:stretch/>
        </p:blipFill>
        <p:spPr bwMode="auto">
          <a:xfrm>
            <a:off x="8939113" y="4167050"/>
            <a:ext cx="1825355" cy="1263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hy Nobody Can Copy Apple | cek.log">
            <a:extLst>
              <a:ext uri="{FF2B5EF4-FFF2-40B4-BE49-F238E27FC236}">
                <a16:creationId xmlns:a16="http://schemas.microsoft.com/office/drawing/2014/main" id="{192F2EFA-7CDA-4C89-B399-32C184A86C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7" r="7257"/>
          <a:stretch/>
        </p:blipFill>
        <p:spPr bwMode="auto">
          <a:xfrm>
            <a:off x="5751132" y="3090101"/>
            <a:ext cx="1156435" cy="136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atermelon driving Korean-grown trend">
            <a:extLst>
              <a:ext uri="{FF2B5EF4-FFF2-40B4-BE49-F238E27FC236}">
                <a16:creationId xmlns:a16="http://schemas.microsoft.com/office/drawing/2014/main" id="{5CB20D0F-A43F-4BF3-9BB4-4B3F021740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7" t="10874" r="14983" b="5878"/>
          <a:stretch/>
        </p:blipFill>
        <p:spPr bwMode="auto">
          <a:xfrm>
            <a:off x="5701265" y="5554975"/>
            <a:ext cx="1501125" cy="1257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FDA investigates possible link between dog foods and heart disease">
            <a:extLst>
              <a:ext uri="{FF2B5EF4-FFF2-40B4-BE49-F238E27FC236}">
                <a16:creationId xmlns:a16="http://schemas.microsoft.com/office/drawing/2014/main" id="{A1A5258D-CD06-4477-A570-96AE793DC6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3" r="22633"/>
          <a:stretch/>
        </p:blipFill>
        <p:spPr bwMode="auto">
          <a:xfrm>
            <a:off x="3483549" y="3183430"/>
            <a:ext cx="1241689" cy="1270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Make your hamster feel at home | Wood Green - The Animals Charity">
            <a:extLst>
              <a:ext uri="{FF2B5EF4-FFF2-40B4-BE49-F238E27FC236}">
                <a16:creationId xmlns:a16="http://schemas.microsoft.com/office/drawing/2014/main" id="{F7D4BCAA-21F6-48CF-AF4F-CA5B8BDBBD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27" r="15727"/>
          <a:stretch/>
        </p:blipFill>
        <p:spPr bwMode="auto">
          <a:xfrm>
            <a:off x="3488487" y="4500153"/>
            <a:ext cx="1501125" cy="1155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40F3E047-AEEB-4877-96D4-69ED45B307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98"/>
          <a:stretch/>
        </p:blipFill>
        <p:spPr bwMode="auto">
          <a:xfrm>
            <a:off x="9050648" y="5308260"/>
            <a:ext cx="1668955" cy="143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Thinking of getting a cat? | International Cat Care">
            <a:extLst>
              <a:ext uri="{FF2B5EF4-FFF2-40B4-BE49-F238E27FC236}">
                <a16:creationId xmlns:a16="http://schemas.microsoft.com/office/drawing/2014/main" id="{647FAEFB-6B32-450A-906D-6E1A0ACF39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9" r="22016"/>
          <a:stretch/>
        </p:blipFill>
        <p:spPr bwMode="auto">
          <a:xfrm>
            <a:off x="3488487" y="5685183"/>
            <a:ext cx="1501125" cy="1126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Can Parrots Really Talk? | Wonderopolis">
            <a:extLst>
              <a:ext uri="{FF2B5EF4-FFF2-40B4-BE49-F238E27FC236}">
                <a16:creationId xmlns:a16="http://schemas.microsoft.com/office/drawing/2014/main" id="{BD511EA5-2FF7-441D-A9B0-42F7C5D754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3" r="8803"/>
          <a:stretch/>
        </p:blipFill>
        <p:spPr bwMode="auto">
          <a:xfrm>
            <a:off x="8975138" y="2875718"/>
            <a:ext cx="1668955" cy="1262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3A0306-C22B-40B6-B1D4-1DEAC75A0295}"/>
              </a:ext>
            </a:extLst>
          </p:cNvPr>
          <p:cNvSpPr txBox="1"/>
          <p:nvPr/>
        </p:nvSpPr>
        <p:spPr>
          <a:xfrm>
            <a:off x="4717187" y="1558313"/>
            <a:ext cx="2507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Does it have a fur?</a:t>
            </a:r>
            <a:endParaRPr lang="en-GB" sz="2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1BD53A7-7B17-4786-8035-404E65E504A3}"/>
              </a:ext>
            </a:extLst>
          </p:cNvPr>
          <p:cNvCxnSpPr/>
          <p:nvPr/>
        </p:nvCxnSpPr>
        <p:spPr>
          <a:xfrm flipH="1">
            <a:off x="5013297" y="21190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D2AF10F-A5DB-4F73-8564-240A1E2B87F2}"/>
              </a:ext>
            </a:extLst>
          </p:cNvPr>
          <p:cNvCxnSpPr>
            <a:cxnSpLocks/>
          </p:cNvCxnSpPr>
          <p:nvPr/>
        </p:nvCxnSpPr>
        <p:spPr>
          <a:xfrm>
            <a:off x="6345161" y="21190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0C2AA36-FB3D-431B-AB84-07559C71D149}"/>
              </a:ext>
            </a:extLst>
          </p:cNvPr>
          <p:cNvSpPr txBox="1"/>
          <p:nvPr/>
        </p:nvSpPr>
        <p:spPr>
          <a:xfrm>
            <a:off x="5108228" y="2514493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0C014A-A8AB-46B7-84A5-75A51B56FA2A}"/>
              </a:ext>
            </a:extLst>
          </p:cNvPr>
          <p:cNvSpPr txBox="1"/>
          <p:nvPr/>
        </p:nvSpPr>
        <p:spPr>
          <a:xfrm>
            <a:off x="6051491" y="2514493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90B423-E57A-460E-98FF-F2BF07820252}"/>
              </a:ext>
            </a:extLst>
          </p:cNvPr>
          <p:cNvSpPr txBox="1"/>
          <p:nvPr/>
        </p:nvSpPr>
        <p:spPr>
          <a:xfrm>
            <a:off x="1427532" y="2414053"/>
            <a:ext cx="3587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Does it have a bright color?</a:t>
            </a:r>
            <a:endParaRPr lang="en-GB" sz="24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D4D246E-0222-4C3F-BF75-C0F191F86F65}"/>
              </a:ext>
            </a:extLst>
          </p:cNvPr>
          <p:cNvCxnSpPr/>
          <p:nvPr/>
        </p:nvCxnSpPr>
        <p:spPr>
          <a:xfrm flipH="1">
            <a:off x="1513484" y="29071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EDD0652-92F4-435C-895B-0F9BCB021545}"/>
              </a:ext>
            </a:extLst>
          </p:cNvPr>
          <p:cNvCxnSpPr>
            <a:cxnSpLocks/>
          </p:cNvCxnSpPr>
          <p:nvPr/>
        </p:nvCxnSpPr>
        <p:spPr>
          <a:xfrm>
            <a:off x="2845348" y="29071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6DC9ED8-3E49-4611-BED9-C00D04C568EC}"/>
              </a:ext>
            </a:extLst>
          </p:cNvPr>
          <p:cNvSpPr txBox="1"/>
          <p:nvPr/>
        </p:nvSpPr>
        <p:spPr>
          <a:xfrm>
            <a:off x="1608415" y="3302593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21E965-15A4-49B7-AC77-ED2D4211E4E1}"/>
              </a:ext>
            </a:extLst>
          </p:cNvPr>
          <p:cNvSpPr txBox="1"/>
          <p:nvPr/>
        </p:nvSpPr>
        <p:spPr>
          <a:xfrm>
            <a:off x="2551678" y="3302593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19CF24-D9CB-4484-830D-C1F76CBC9769}"/>
              </a:ext>
            </a:extLst>
          </p:cNvPr>
          <p:cNvSpPr txBox="1"/>
          <p:nvPr/>
        </p:nvSpPr>
        <p:spPr>
          <a:xfrm>
            <a:off x="6957848" y="2363148"/>
            <a:ext cx="1585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Is it round?</a:t>
            </a:r>
            <a:endParaRPr lang="en-GB" sz="24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4F917D9-D277-430D-BCDA-165E17F36D5E}"/>
              </a:ext>
            </a:extLst>
          </p:cNvPr>
          <p:cNvCxnSpPr/>
          <p:nvPr/>
        </p:nvCxnSpPr>
        <p:spPr>
          <a:xfrm flipH="1">
            <a:off x="6855859" y="2910934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8C66D7D-3F6F-4A3B-9964-9D705C5A85B3}"/>
              </a:ext>
            </a:extLst>
          </p:cNvPr>
          <p:cNvCxnSpPr>
            <a:cxnSpLocks/>
          </p:cNvCxnSpPr>
          <p:nvPr/>
        </p:nvCxnSpPr>
        <p:spPr>
          <a:xfrm>
            <a:off x="8187723" y="2910934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83E6AAE-DE9E-4D94-8403-EEAD5187EC1F}"/>
              </a:ext>
            </a:extLst>
          </p:cNvPr>
          <p:cNvSpPr txBox="1"/>
          <p:nvPr/>
        </p:nvSpPr>
        <p:spPr>
          <a:xfrm>
            <a:off x="6950790" y="3306404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1F24C6-3EBB-47B1-9BD7-4086C3EB43D6}"/>
              </a:ext>
            </a:extLst>
          </p:cNvPr>
          <p:cNvSpPr txBox="1"/>
          <p:nvPr/>
        </p:nvSpPr>
        <p:spPr>
          <a:xfrm>
            <a:off x="7894053" y="3306404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pic>
        <p:nvPicPr>
          <p:cNvPr id="5" name="Picture 22" descr="Lychee, Longan and Rambutan: Why You Need to Be Eating These Cool, Juicy,  Exotic Asian Fruits This Summer - One Green Planet">
            <a:extLst>
              <a:ext uri="{FF2B5EF4-FFF2-40B4-BE49-F238E27FC236}">
                <a16:creationId xmlns:a16="http://schemas.microsoft.com/office/drawing/2014/main" id="{FC43560F-6CD3-423B-8261-E5D62545EC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596"/>
          <a:stretch/>
        </p:blipFill>
        <p:spPr bwMode="auto">
          <a:xfrm>
            <a:off x="5752363" y="4533672"/>
            <a:ext cx="1211999" cy="1029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221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 descr="Why Nobody Can Copy Apple | cek.log">
            <a:extLst>
              <a:ext uri="{FF2B5EF4-FFF2-40B4-BE49-F238E27FC236}">
                <a16:creationId xmlns:a16="http://schemas.microsoft.com/office/drawing/2014/main" id="{E3F8D684-8D32-4EF0-9A78-696813041C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7" r="7257"/>
          <a:stretch/>
        </p:blipFill>
        <p:spPr bwMode="auto">
          <a:xfrm>
            <a:off x="5751132" y="3090101"/>
            <a:ext cx="1156435" cy="136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Watermelon driving Korean-grown trend">
            <a:extLst>
              <a:ext uri="{FF2B5EF4-FFF2-40B4-BE49-F238E27FC236}">
                <a16:creationId xmlns:a16="http://schemas.microsoft.com/office/drawing/2014/main" id="{9C475FCB-DEBD-47AE-BF76-250B9B3AD1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7" t="10874" r="14983" b="5878"/>
          <a:stretch/>
        </p:blipFill>
        <p:spPr bwMode="auto">
          <a:xfrm>
            <a:off x="5701265" y="5554975"/>
            <a:ext cx="1501125" cy="1257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2" descr="Lychee, Longan and Rambutan: Why You Need to Be Eating These Cool, Juicy,  Exotic Asian Fruits This Summer - One Green Planet">
            <a:extLst>
              <a:ext uri="{FF2B5EF4-FFF2-40B4-BE49-F238E27FC236}">
                <a16:creationId xmlns:a16="http://schemas.microsoft.com/office/drawing/2014/main" id="{F2DA6B6C-6764-46B3-B4BF-4FE9991F2B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596"/>
          <a:stretch/>
        </p:blipFill>
        <p:spPr bwMode="auto">
          <a:xfrm>
            <a:off x="5752363" y="4533672"/>
            <a:ext cx="1211999" cy="1029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C40F72-E887-4CBC-823B-C6BAB32BB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  <a:endParaRPr lang="en-GB" dirty="0"/>
          </a:p>
        </p:txBody>
      </p:sp>
      <p:pic>
        <p:nvPicPr>
          <p:cNvPr id="1026" name="Picture 2" descr="What has more vitamin C than oranges? | Jupiter Marketing Ltd">
            <a:extLst>
              <a:ext uri="{FF2B5EF4-FFF2-40B4-BE49-F238E27FC236}">
                <a16:creationId xmlns:a16="http://schemas.microsoft.com/office/drawing/2014/main" id="{9DE65695-5F4F-4708-8D26-00073486A9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2" b="8243"/>
          <a:stretch/>
        </p:blipFill>
        <p:spPr bwMode="auto">
          <a:xfrm>
            <a:off x="249661" y="5190896"/>
            <a:ext cx="2581275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each &amp; Nectarine – BeFresh">
            <a:extLst>
              <a:ext uri="{FF2B5EF4-FFF2-40B4-BE49-F238E27FC236}">
                <a16:creationId xmlns:a16="http://schemas.microsoft.com/office/drawing/2014/main" id="{6AFFCE0F-21D8-4458-852D-8047543FC4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96" b="16296"/>
          <a:stretch/>
        </p:blipFill>
        <p:spPr bwMode="auto">
          <a:xfrm>
            <a:off x="138355" y="3599083"/>
            <a:ext cx="2057400" cy="1496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uilding A Better Banana | Science | Smithsonian Magazine">
            <a:extLst>
              <a:ext uri="{FF2B5EF4-FFF2-40B4-BE49-F238E27FC236}">
                <a16:creationId xmlns:a16="http://schemas.microsoft.com/office/drawing/2014/main" id="{68E41B8A-5749-477F-9AFD-B86B480F59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9" t="5826" r="2919" b="7135"/>
          <a:stretch/>
        </p:blipFill>
        <p:spPr bwMode="auto">
          <a:xfrm>
            <a:off x="10326484" y="4763736"/>
            <a:ext cx="1825355" cy="1263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FDA investigates possible link between dog foods and heart disease">
            <a:extLst>
              <a:ext uri="{FF2B5EF4-FFF2-40B4-BE49-F238E27FC236}">
                <a16:creationId xmlns:a16="http://schemas.microsoft.com/office/drawing/2014/main" id="{A1A5258D-CD06-4477-A570-96AE793DC6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3" r="22633"/>
          <a:stretch/>
        </p:blipFill>
        <p:spPr bwMode="auto">
          <a:xfrm>
            <a:off x="3483549" y="3183430"/>
            <a:ext cx="1241689" cy="1270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Make your hamster feel at home | Wood Green - The Animals Charity">
            <a:extLst>
              <a:ext uri="{FF2B5EF4-FFF2-40B4-BE49-F238E27FC236}">
                <a16:creationId xmlns:a16="http://schemas.microsoft.com/office/drawing/2014/main" id="{F7D4BCAA-21F6-48CF-AF4F-CA5B8BDBBD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27" r="15727"/>
          <a:stretch/>
        </p:blipFill>
        <p:spPr bwMode="auto">
          <a:xfrm>
            <a:off x="3488487" y="4500153"/>
            <a:ext cx="1501125" cy="1155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40F3E047-AEEB-4877-96D4-69ED45B307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98"/>
          <a:stretch/>
        </p:blipFill>
        <p:spPr bwMode="auto">
          <a:xfrm>
            <a:off x="8166724" y="4306724"/>
            <a:ext cx="1367805" cy="1176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Thinking of getting a cat? | International Cat Care">
            <a:extLst>
              <a:ext uri="{FF2B5EF4-FFF2-40B4-BE49-F238E27FC236}">
                <a16:creationId xmlns:a16="http://schemas.microsoft.com/office/drawing/2014/main" id="{647FAEFB-6B32-450A-906D-6E1A0ACF39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9" r="22016"/>
          <a:stretch/>
        </p:blipFill>
        <p:spPr bwMode="auto">
          <a:xfrm>
            <a:off x="3488487" y="5685183"/>
            <a:ext cx="1501125" cy="1126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Can Parrots Really Talk? | Wonderopolis">
            <a:extLst>
              <a:ext uri="{FF2B5EF4-FFF2-40B4-BE49-F238E27FC236}">
                <a16:creationId xmlns:a16="http://schemas.microsoft.com/office/drawing/2014/main" id="{BD511EA5-2FF7-441D-A9B0-42F7C5D754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3" r="8803"/>
          <a:stretch/>
        </p:blipFill>
        <p:spPr bwMode="auto">
          <a:xfrm>
            <a:off x="8100063" y="5549321"/>
            <a:ext cx="1501126" cy="1135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3A0306-C22B-40B6-B1D4-1DEAC75A0295}"/>
              </a:ext>
            </a:extLst>
          </p:cNvPr>
          <p:cNvSpPr txBox="1"/>
          <p:nvPr/>
        </p:nvSpPr>
        <p:spPr>
          <a:xfrm>
            <a:off x="4717187" y="1558313"/>
            <a:ext cx="2507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Does it have a fur?</a:t>
            </a:r>
            <a:endParaRPr lang="en-GB" sz="2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1BD53A7-7B17-4786-8035-404E65E504A3}"/>
              </a:ext>
            </a:extLst>
          </p:cNvPr>
          <p:cNvCxnSpPr/>
          <p:nvPr/>
        </p:nvCxnSpPr>
        <p:spPr>
          <a:xfrm flipH="1">
            <a:off x="5013297" y="21190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D2AF10F-A5DB-4F73-8564-240A1E2B87F2}"/>
              </a:ext>
            </a:extLst>
          </p:cNvPr>
          <p:cNvCxnSpPr>
            <a:cxnSpLocks/>
          </p:cNvCxnSpPr>
          <p:nvPr/>
        </p:nvCxnSpPr>
        <p:spPr>
          <a:xfrm>
            <a:off x="6345161" y="21190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0C2AA36-FB3D-431B-AB84-07559C71D149}"/>
              </a:ext>
            </a:extLst>
          </p:cNvPr>
          <p:cNvSpPr txBox="1"/>
          <p:nvPr/>
        </p:nvSpPr>
        <p:spPr>
          <a:xfrm>
            <a:off x="5108228" y="2514493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0C014A-A8AB-46B7-84A5-75A51B56FA2A}"/>
              </a:ext>
            </a:extLst>
          </p:cNvPr>
          <p:cNvSpPr txBox="1"/>
          <p:nvPr/>
        </p:nvSpPr>
        <p:spPr>
          <a:xfrm>
            <a:off x="6051491" y="2514493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90B423-E57A-460E-98FF-F2BF07820252}"/>
              </a:ext>
            </a:extLst>
          </p:cNvPr>
          <p:cNvSpPr txBox="1"/>
          <p:nvPr/>
        </p:nvSpPr>
        <p:spPr>
          <a:xfrm>
            <a:off x="1427532" y="2414053"/>
            <a:ext cx="3587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Does it have a bright color?</a:t>
            </a:r>
            <a:endParaRPr lang="en-GB" sz="24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D4D246E-0222-4C3F-BF75-C0F191F86F65}"/>
              </a:ext>
            </a:extLst>
          </p:cNvPr>
          <p:cNvCxnSpPr/>
          <p:nvPr/>
        </p:nvCxnSpPr>
        <p:spPr>
          <a:xfrm flipH="1">
            <a:off x="1513484" y="29071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EDD0652-92F4-435C-895B-0F9BCB021545}"/>
              </a:ext>
            </a:extLst>
          </p:cNvPr>
          <p:cNvCxnSpPr>
            <a:cxnSpLocks/>
          </p:cNvCxnSpPr>
          <p:nvPr/>
        </p:nvCxnSpPr>
        <p:spPr>
          <a:xfrm>
            <a:off x="2845348" y="29071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6DC9ED8-3E49-4611-BED9-C00D04C568EC}"/>
              </a:ext>
            </a:extLst>
          </p:cNvPr>
          <p:cNvSpPr txBox="1"/>
          <p:nvPr/>
        </p:nvSpPr>
        <p:spPr>
          <a:xfrm>
            <a:off x="1608415" y="3302593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21E965-15A4-49B7-AC77-ED2D4211E4E1}"/>
              </a:ext>
            </a:extLst>
          </p:cNvPr>
          <p:cNvSpPr txBox="1"/>
          <p:nvPr/>
        </p:nvSpPr>
        <p:spPr>
          <a:xfrm>
            <a:off x="2551678" y="3302593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19CF24-D9CB-4484-830D-C1F76CBC9769}"/>
              </a:ext>
            </a:extLst>
          </p:cNvPr>
          <p:cNvSpPr txBox="1"/>
          <p:nvPr/>
        </p:nvSpPr>
        <p:spPr>
          <a:xfrm>
            <a:off x="6957848" y="2363148"/>
            <a:ext cx="1585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Is it round?</a:t>
            </a:r>
            <a:endParaRPr lang="en-GB" sz="24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4F917D9-D277-430D-BCDA-165E17F36D5E}"/>
              </a:ext>
            </a:extLst>
          </p:cNvPr>
          <p:cNvCxnSpPr/>
          <p:nvPr/>
        </p:nvCxnSpPr>
        <p:spPr>
          <a:xfrm flipH="1">
            <a:off x="6855859" y="2910934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8C66D7D-3F6F-4A3B-9964-9D705C5A85B3}"/>
              </a:ext>
            </a:extLst>
          </p:cNvPr>
          <p:cNvCxnSpPr>
            <a:cxnSpLocks/>
          </p:cNvCxnSpPr>
          <p:nvPr/>
        </p:nvCxnSpPr>
        <p:spPr>
          <a:xfrm>
            <a:off x="8187723" y="2910934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83E6AAE-DE9E-4D94-8403-EEAD5187EC1F}"/>
              </a:ext>
            </a:extLst>
          </p:cNvPr>
          <p:cNvSpPr txBox="1"/>
          <p:nvPr/>
        </p:nvSpPr>
        <p:spPr>
          <a:xfrm>
            <a:off x="6950790" y="3306404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1F24C6-3EBB-47B1-9BD7-4086C3EB43D6}"/>
              </a:ext>
            </a:extLst>
          </p:cNvPr>
          <p:cNvSpPr txBox="1"/>
          <p:nvPr/>
        </p:nvSpPr>
        <p:spPr>
          <a:xfrm>
            <a:off x="7894053" y="3306404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809099-A992-42F7-B1B8-2326CE0E898C}"/>
              </a:ext>
            </a:extLst>
          </p:cNvPr>
          <p:cNvSpPr txBox="1"/>
          <p:nvPr/>
        </p:nvSpPr>
        <p:spPr>
          <a:xfrm>
            <a:off x="8784094" y="3244587"/>
            <a:ext cx="2984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Is it heavier than 1 kg?</a:t>
            </a:r>
            <a:endParaRPr lang="en-GB" sz="24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70C6EDE-3A2E-42C0-89AE-B539EB9B8394}"/>
              </a:ext>
            </a:extLst>
          </p:cNvPr>
          <p:cNvCxnSpPr/>
          <p:nvPr/>
        </p:nvCxnSpPr>
        <p:spPr>
          <a:xfrm flipH="1">
            <a:off x="9644213" y="3815651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598593D-8A26-460E-ABCC-5CDB868EAF96}"/>
              </a:ext>
            </a:extLst>
          </p:cNvPr>
          <p:cNvCxnSpPr>
            <a:cxnSpLocks/>
          </p:cNvCxnSpPr>
          <p:nvPr/>
        </p:nvCxnSpPr>
        <p:spPr>
          <a:xfrm>
            <a:off x="10976077" y="3815651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554EE69-C249-47F7-9586-A2842AF5DE1F}"/>
              </a:ext>
            </a:extLst>
          </p:cNvPr>
          <p:cNvSpPr txBox="1"/>
          <p:nvPr/>
        </p:nvSpPr>
        <p:spPr>
          <a:xfrm>
            <a:off x="9739144" y="4211121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41AEAEB-AB6E-4484-834A-5EB049E7C4EF}"/>
              </a:ext>
            </a:extLst>
          </p:cNvPr>
          <p:cNvSpPr txBox="1"/>
          <p:nvPr/>
        </p:nvSpPr>
        <p:spPr>
          <a:xfrm>
            <a:off x="10682407" y="4211121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CA64BA-312F-4F54-B05C-1FC8E498F1E9}"/>
              </a:ext>
            </a:extLst>
          </p:cNvPr>
          <p:cNvSpPr/>
          <p:nvPr/>
        </p:nvSpPr>
        <p:spPr>
          <a:xfrm>
            <a:off x="9576074" y="768559"/>
            <a:ext cx="2126974" cy="202615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FF7A25-0FDF-4AFD-8291-D7A433215DD5}"/>
              </a:ext>
            </a:extLst>
          </p:cNvPr>
          <p:cNvSpPr txBox="1"/>
          <p:nvPr/>
        </p:nvSpPr>
        <p:spPr>
          <a:xfrm>
            <a:off x="10133219" y="830426"/>
            <a:ext cx="889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set</a:t>
            </a:r>
            <a:endParaRPr lang="en-GB" dirty="0"/>
          </a:p>
        </p:txBody>
      </p:sp>
      <p:pic>
        <p:nvPicPr>
          <p:cNvPr id="2056" name="Picture 8" descr="10 of the World's Most Dangerous Fish | Britannica">
            <a:extLst>
              <a:ext uri="{FF2B5EF4-FFF2-40B4-BE49-F238E27FC236}">
                <a16:creationId xmlns:a16="http://schemas.microsoft.com/office/drawing/2014/main" id="{25C78D78-474B-4A94-B2A2-1D0294DB73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3" r="10152"/>
          <a:stretch/>
        </p:blipFill>
        <p:spPr bwMode="auto">
          <a:xfrm>
            <a:off x="9739144" y="1199758"/>
            <a:ext cx="1829226" cy="1564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8" descr="10 of the World's Most Dangerous Fish | Britannica">
            <a:extLst>
              <a:ext uri="{FF2B5EF4-FFF2-40B4-BE49-F238E27FC236}">
                <a16:creationId xmlns:a16="http://schemas.microsoft.com/office/drawing/2014/main" id="{13109B09-9825-4172-B3D8-3121763939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3" r="10152"/>
          <a:stretch/>
        </p:blipFill>
        <p:spPr bwMode="auto">
          <a:xfrm>
            <a:off x="9739144" y="1216315"/>
            <a:ext cx="1829226" cy="1564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0327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4.81481E-6 L -0.38698 -0.16459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349" y="-82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8698 -0.16459 L -0.23959 -0.04491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70" y="59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3959 -0.04491 L -0.35182 0.40324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12" y="22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40F72-E887-4CBC-823B-C6BAB32BB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  <a:endParaRPr lang="en-GB" dirty="0"/>
          </a:p>
        </p:txBody>
      </p:sp>
      <p:pic>
        <p:nvPicPr>
          <p:cNvPr id="1026" name="Picture 2" descr="What has more vitamin C than oranges? | Jupiter Marketing Ltd">
            <a:extLst>
              <a:ext uri="{FF2B5EF4-FFF2-40B4-BE49-F238E27FC236}">
                <a16:creationId xmlns:a16="http://schemas.microsoft.com/office/drawing/2014/main" id="{9DE65695-5F4F-4708-8D26-00073486A9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2" b="8243"/>
          <a:stretch/>
        </p:blipFill>
        <p:spPr bwMode="auto">
          <a:xfrm>
            <a:off x="2626830" y="5242580"/>
            <a:ext cx="2581275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each &amp; Nectarine – BeFresh">
            <a:extLst>
              <a:ext uri="{FF2B5EF4-FFF2-40B4-BE49-F238E27FC236}">
                <a16:creationId xmlns:a16="http://schemas.microsoft.com/office/drawing/2014/main" id="{6AFFCE0F-21D8-4458-852D-8047543FC4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96" b="16296"/>
          <a:stretch/>
        </p:blipFill>
        <p:spPr bwMode="auto">
          <a:xfrm>
            <a:off x="2773463" y="3548484"/>
            <a:ext cx="2057400" cy="1496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uilding A Better Banana | Science | Smithsonian Magazine">
            <a:extLst>
              <a:ext uri="{FF2B5EF4-FFF2-40B4-BE49-F238E27FC236}">
                <a16:creationId xmlns:a16="http://schemas.microsoft.com/office/drawing/2014/main" id="{68E41B8A-5749-477F-9AFD-B86B480F59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9" t="5826" r="2919" b="7135"/>
          <a:stretch/>
        </p:blipFill>
        <p:spPr bwMode="auto">
          <a:xfrm>
            <a:off x="6974177" y="4988705"/>
            <a:ext cx="2322946" cy="1608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hy Nobody Can Copy Apple | cek.log">
            <a:extLst>
              <a:ext uri="{FF2B5EF4-FFF2-40B4-BE49-F238E27FC236}">
                <a16:creationId xmlns:a16="http://schemas.microsoft.com/office/drawing/2014/main" id="{192F2EFA-7CDA-4C89-B399-32C184A86C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7" r="7257"/>
          <a:stretch/>
        </p:blipFill>
        <p:spPr bwMode="auto">
          <a:xfrm>
            <a:off x="628206" y="4339375"/>
            <a:ext cx="1776982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atermelon driving Korean-grown trend">
            <a:extLst>
              <a:ext uri="{FF2B5EF4-FFF2-40B4-BE49-F238E27FC236}">
                <a16:creationId xmlns:a16="http://schemas.microsoft.com/office/drawing/2014/main" id="{5CB20D0F-A43F-4BF3-9BB4-4B3F021740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7" t="10874" r="14983" b="5878"/>
          <a:stretch/>
        </p:blipFill>
        <p:spPr bwMode="auto">
          <a:xfrm>
            <a:off x="1061335" y="3384784"/>
            <a:ext cx="1713822" cy="143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FDA investigates possible link between dog foods and heart disease">
            <a:extLst>
              <a:ext uri="{FF2B5EF4-FFF2-40B4-BE49-F238E27FC236}">
                <a16:creationId xmlns:a16="http://schemas.microsoft.com/office/drawing/2014/main" id="{A1A5258D-CD06-4477-A570-96AE793DC6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3" r="22633"/>
          <a:stretch/>
        </p:blipFill>
        <p:spPr bwMode="auto">
          <a:xfrm>
            <a:off x="9777094" y="5044489"/>
            <a:ext cx="1564044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Make your hamster feel at home | Wood Green - The Animals Charity">
            <a:extLst>
              <a:ext uri="{FF2B5EF4-FFF2-40B4-BE49-F238E27FC236}">
                <a16:creationId xmlns:a16="http://schemas.microsoft.com/office/drawing/2014/main" id="{F7D4BCAA-21F6-48CF-AF4F-CA5B8BDBBD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27" r="15727"/>
          <a:stretch/>
        </p:blipFill>
        <p:spPr bwMode="auto">
          <a:xfrm>
            <a:off x="2469849" y="2027715"/>
            <a:ext cx="2017436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40F3E047-AEEB-4877-96D4-69ED45B307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98"/>
          <a:stretch/>
        </p:blipFill>
        <p:spPr bwMode="auto">
          <a:xfrm>
            <a:off x="7148325" y="3045183"/>
            <a:ext cx="2148798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Thinking of getting a cat? | International Cat Care">
            <a:extLst>
              <a:ext uri="{FF2B5EF4-FFF2-40B4-BE49-F238E27FC236}">
                <a16:creationId xmlns:a16="http://schemas.microsoft.com/office/drawing/2014/main" id="{647FAEFB-6B32-450A-906D-6E1A0ACF39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9" r="17679"/>
          <a:stretch/>
        </p:blipFill>
        <p:spPr bwMode="auto">
          <a:xfrm>
            <a:off x="9587094" y="3479507"/>
            <a:ext cx="2148798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Can Parrots Really Talk? | Wonderopolis">
            <a:extLst>
              <a:ext uri="{FF2B5EF4-FFF2-40B4-BE49-F238E27FC236}">
                <a16:creationId xmlns:a16="http://schemas.microsoft.com/office/drawing/2014/main" id="{BD511EA5-2FF7-441D-A9B0-42F7C5D754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3" r="8803"/>
          <a:stretch/>
        </p:blipFill>
        <p:spPr bwMode="auto">
          <a:xfrm>
            <a:off x="9345018" y="1653771"/>
            <a:ext cx="222885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3A0306-C22B-40B6-B1D4-1DEAC75A0295}"/>
              </a:ext>
            </a:extLst>
          </p:cNvPr>
          <p:cNvSpPr txBox="1"/>
          <p:nvPr/>
        </p:nvSpPr>
        <p:spPr>
          <a:xfrm>
            <a:off x="5096849" y="1612116"/>
            <a:ext cx="1585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Is it round?</a:t>
            </a:r>
            <a:endParaRPr lang="en-GB" sz="2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1BD53A7-7B17-4786-8035-404E65E504A3}"/>
              </a:ext>
            </a:extLst>
          </p:cNvPr>
          <p:cNvCxnSpPr/>
          <p:nvPr/>
        </p:nvCxnSpPr>
        <p:spPr>
          <a:xfrm flipH="1">
            <a:off x="5013297" y="21190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D2AF10F-A5DB-4F73-8564-240A1E2B87F2}"/>
              </a:ext>
            </a:extLst>
          </p:cNvPr>
          <p:cNvCxnSpPr>
            <a:cxnSpLocks/>
          </p:cNvCxnSpPr>
          <p:nvPr/>
        </p:nvCxnSpPr>
        <p:spPr>
          <a:xfrm>
            <a:off x="6345161" y="21190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0C2AA36-FB3D-431B-AB84-07559C71D149}"/>
              </a:ext>
            </a:extLst>
          </p:cNvPr>
          <p:cNvSpPr txBox="1"/>
          <p:nvPr/>
        </p:nvSpPr>
        <p:spPr>
          <a:xfrm>
            <a:off x="5108228" y="2514493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0C014A-A8AB-46B7-84A5-75A51B56FA2A}"/>
              </a:ext>
            </a:extLst>
          </p:cNvPr>
          <p:cNvSpPr txBox="1"/>
          <p:nvPr/>
        </p:nvSpPr>
        <p:spPr>
          <a:xfrm>
            <a:off x="6051491" y="2514493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pic>
        <p:nvPicPr>
          <p:cNvPr id="4" name="Picture 22" descr="Lychee, Longan and Rambutan: Why You Need to Be Eating These Cool, Juicy,  Exotic Asian Fruits This Summer - One Green Planet">
            <a:extLst>
              <a:ext uri="{FF2B5EF4-FFF2-40B4-BE49-F238E27FC236}">
                <a16:creationId xmlns:a16="http://schemas.microsoft.com/office/drawing/2014/main" id="{7820AD59-A916-499A-BC86-BF207961DB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596"/>
          <a:stretch/>
        </p:blipFill>
        <p:spPr bwMode="auto">
          <a:xfrm>
            <a:off x="459249" y="1752688"/>
            <a:ext cx="1848879" cy="1569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7101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40F72-E887-4CBC-823B-C6BAB32BB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  <a:endParaRPr lang="en-GB" dirty="0"/>
          </a:p>
        </p:txBody>
      </p:sp>
      <p:pic>
        <p:nvPicPr>
          <p:cNvPr id="1026" name="Picture 2" descr="What has more vitamin C than oranges? | Jupiter Marketing Ltd">
            <a:extLst>
              <a:ext uri="{FF2B5EF4-FFF2-40B4-BE49-F238E27FC236}">
                <a16:creationId xmlns:a16="http://schemas.microsoft.com/office/drawing/2014/main" id="{9DE65695-5F4F-4708-8D26-00073486A9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2" b="8243"/>
          <a:stretch/>
        </p:blipFill>
        <p:spPr bwMode="auto">
          <a:xfrm>
            <a:off x="175240" y="5563122"/>
            <a:ext cx="1807452" cy="1087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each &amp; Nectarine – BeFresh">
            <a:extLst>
              <a:ext uri="{FF2B5EF4-FFF2-40B4-BE49-F238E27FC236}">
                <a16:creationId xmlns:a16="http://schemas.microsoft.com/office/drawing/2014/main" id="{6AFFCE0F-21D8-4458-852D-8047543FC4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96" b="16296"/>
          <a:stretch/>
        </p:blipFill>
        <p:spPr bwMode="auto">
          <a:xfrm>
            <a:off x="0" y="1513674"/>
            <a:ext cx="1822996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uilding A Better Banana | Science | Smithsonian Magazine">
            <a:extLst>
              <a:ext uri="{FF2B5EF4-FFF2-40B4-BE49-F238E27FC236}">
                <a16:creationId xmlns:a16="http://schemas.microsoft.com/office/drawing/2014/main" id="{68E41B8A-5749-477F-9AFD-B86B480F59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9" t="5826" r="2919" b="7135"/>
          <a:stretch/>
        </p:blipFill>
        <p:spPr bwMode="auto">
          <a:xfrm>
            <a:off x="6974177" y="4988705"/>
            <a:ext cx="2322946" cy="1608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hy Nobody Can Copy Apple | cek.log">
            <a:extLst>
              <a:ext uri="{FF2B5EF4-FFF2-40B4-BE49-F238E27FC236}">
                <a16:creationId xmlns:a16="http://schemas.microsoft.com/office/drawing/2014/main" id="{192F2EFA-7CDA-4C89-B399-32C184A86C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7" r="7257"/>
          <a:stretch/>
        </p:blipFill>
        <p:spPr bwMode="auto">
          <a:xfrm>
            <a:off x="221939" y="3865901"/>
            <a:ext cx="1439242" cy="169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atermelon driving Korean-grown trend">
            <a:extLst>
              <a:ext uri="{FF2B5EF4-FFF2-40B4-BE49-F238E27FC236}">
                <a16:creationId xmlns:a16="http://schemas.microsoft.com/office/drawing/2014/main" id="{5CB20D0F-A43F-4BF3-9BB4-4B3F021740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7" t="10874" r="14983" b="5878"/>
          <a:stretch/>
        </p:blipFill>
        <p:spPr bwMode="auto">
          <a:xfrm>
            <a:off x="175240" y="2818989"/>
            <a:ext cx="1713822" cy="143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FDA investigates possible link between dog foods and heart disease">
            <a:extLst>
              <a:ext uri="{FF2B5EF4-FFF2-40B4-BE49-F238E27FC236}">
                <a16:creationId xmlns:a16="http://schemas.microsoft.com/office/drawing/2014/main" id="{A1A5258D-CD06-4477-A570-96AE793DC6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3" r="22633"/>
          <a:stretch/>
        </p:blipFill>
        <p:spPr bwMode="auto">
          <a:xfrm>
            <a:off x="9777094" y="5044489"/>
            <a:ext cx="1564044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Make your hamster feel at home | Wood Green - The Animals Charity">
            <a:extLst>
              <a:ext uri="{FF2B5EF4-FFF2-40B4-BE49-F238E27FC236}">
                <a16:creationId xmlns:a16="http://schemas.microsoft.com/office/drawing/2014/main" id="{F7D4BCAA-21F6-48CF-AF4F-CA5B8BDBBD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27" r="15727"/>
          <a:stretch/>
        </p:blipFill>
        <p:spPr bwMode="auto">
          <a:xfrm>
            <a:off x="3145279" y="3804365"/>
            <a:ext cx="1814252" cy="1396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40F3E047-AEEB-4877-96D4-69ED45B307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98"/>
          <a:stretch/>
        </p:blipFill>
        <p:spPr bwMode="auto">
          <a:xfrm>
            <a:off x="7148325" y="3045183"/>
            <a:ext cx="2148798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Thinking of getting a cat? | International Cat Care">
            <a:extLst>
              <a:ext uri="{FF2B5EF4-FFF2-40B4-BE49-F238E27FC236}">
                <a16:creationId xmlns:a16="http://schemas.microsoft.com/office/drawing/2014/main" id="{647FAEFB-6B32-450A-906D-6E1A0ACF39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9" r="17679"/>
          <a:stretch/>
        </p:blipFill>
        <p:spPr bwMode="auto">
          <a:xfrm>
            <a:off x="9587094" y="3479507"/>
            <a:ext cx="2148798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Can Parrots Really Talk? | Wonderopolis">
            <a:extLst>
              <a:ext uri="{FF2B5EF4-FFF2-40B4-BE49-F238E27FC236}">
                <a16:creationId xmlns:a16="http://schemas.microsoft.com/office/drawing/2014/main" id="{BD511EA5-2FF7-441D-A9B0-42F7C5D754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3" r="8803"/>
          <a:stretch/>
        </p:blipFill>
        <p:spPr bwMode="auto">
          <a:xfrm>
            <a:off x="9345018" y="1653771"/>
            <a:ext cx="222885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3A0306-C22B-40B6-B1D4-1DEAC75A0295}"/>
              </a:ext>
            </a:extLst>
          </p:cNvPr>
          <p:cNvSpPr txBox="1"/>
          <p:nvPr/>
        </p:nvSpPr>
        <p:spPr>
          <a:xfrm>
            <a:off x="5096849" y="1612116"/>
            <a:ext cx="1585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Is it round?</a:t>
            </a:r>
            <a:endParaRPr lang="en-GB" sz="2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1BD53A7-7B17-4786-8035-404E65E504A3}"/>
              </a:ext>
            </a:extLst>
          </p:cNvPr>
          <p:cNvCxnSpPr/>
          <p:nvPr/>
        </p:nvCxnSpPr>
        <p:spPr>
          <a:xfrm flipH="1">
            <a:off x="5013297" y="21190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D2AF10F-A5DB-4F73-8564-240A1E2B87F2}"/>
              </a:ext>
            </a:extLst>
          </p:cNvPr>
          <p:cNvCxnSpPr>
            <a:cxnSpLocks/>
          </p:cNvCxnSpPr>
          <p:nvPr/>
        </p:nvCxnSpPr>
        <p:spPr>
          <a:xfrm>
            <a:off x="6345161" y="21190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0C2AA36-FB3D-431B-AB84-07559C71D149}"/>
              </a:ext>
            </a:extLst>
          </p:cNvPr>
          <p:cNvSpPr txBox="1"/>
          <p:nvPr/>
        </p:nvSpPr>
        <p:spPr>
          <a:xfrm>
            <a:off x="5108228" y="2514493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0C014A-A8AB-46B7-84A5-75A51B56FA2A}"/>
              </a:ext>
            </a:extLst>
          </p:cNvPr>
          <p:cNvSpPr txBox="1"/>
          <p:nvPr/>
        </p:nvSpPr>
        <p:spPr>
          <a:xfrm>
            <a:off x="6051491" y="2514493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BBE26B-57EA-4B5B-84BE-C37EE6071071}"/>
              </a:ext>
            </a:extLst>
          </p:cNvPr>
          <p:cNvSpPr txBox="1"/>
          <p:nvPr/>
        </p:nvSpPr>
        <p:spPr>
          <a:xfrm>
            <a:off x="1473691" y="2430738"/>
            <a:ext cx="3587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Does it have a bright color?</a:t>
            </a:r>
            <a:endParaRPr lang="en-GB" sz="24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B669F02-C802-4582-A5F5-E9158EF06FBD}"/>
              </a:ext>
            </a:extLst>
          </p:cNvPr>
          <p:cNvCxnSpPr/>
          <p:nvPr/>
        </p:nvCxnSpPr>
        <p:spPr>
          <a:xfrm flipH="1">
            <a:off x="2173037" y="294244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D9FF5F-DFC5-4513-ABD3-07C1174BBBD4}"/>
              </a:ext>
            </a:extLst>
          </p:cNvPr>
          <p:cNvCxnSpPr>
            <a:cxnSpLocks/>
          </p:cNvCxnSpPr>
          <p:nvPr/>
        </p:nvCxnSpPr>
        <p:spPr>
          <a:xfrm>
            <a:off x="3504901" y="294244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A060FC6-97F5-43F4-AA0B-EF62C8ED5E8A}"/>
              </a:ext>
            </a:extLst>
          </p:cNvPr>
          <p:cNvSpPr txBox="1"/>
          <p:nvPr/>
        </p:nvSpPr>
        <p:spPr>
          <a:xfrm>
            <a:off x="2267968" y="3337913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767527-5A60-482F-8B24-CD321BC07D95}"/>
              </a:ext>
            </a:extLst>
          </p:cNvPr>
          <p:cNvSpPr txBox="1"/>
          <p:nvPr/>
        </p:nvSpPr>
        <p:spPr>
          <a:xfrm>
            <a:off x="3211231" y="3337913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pic>
        <p:nvPicPr>
          <p:cNvPr id="4" name="Picture 22" descr="Lychee, Longan and Rambutan: Why You Need to Be Eating These Cool, Juicy,  Exotic Asian Fruits This Summer - One Green Planet">
            <a:extLst>
              <a:ext uri="{FF2B5EF4-FFF2-40B4-BE49-F238E27FC236}">
                <a16:creationId xmlns:a16="http://schemas.microsoft.com/office/drawing/2014/main" id="{B5B8ABDB-7418-4CB1-A102-CF612AE077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596"/>
          <a:stretch/>
        </p:blipFill>
        <p:spPr bwMode="auto">
          <a:xfrm>
            <a:off x="3168715" y="5261933"/>
            <a:ext cx="1807452" cy="1534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5129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40F72-E887-4CBC-823B-C6BAB32BB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  <a:endParaRPr lang="en-GB" dirty="0"/>
          </a:p>
        </p:txBody>
      </p:sp>
      <p:pic>
        <p:nvPicPr>
          <p:cNvPr id="1026" name="Picture 2" descr="What has more vitamin C than oranges? | Jupiter Marketing Ltd">
            <a:extLst>
              <a:ext uri="{FF2B5EF4-FFF2-40B4-BE49-F238E27FC236}">
                <a16:creationId xmlns:a16="http://schemas.microsoft.com/office/drawing/2014/main" id="{9DE65695-5F4F-4708-8D26-00073486A9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2" b="8243"/>
          <a:stretch/>
        </p:blipFill>
        <p:spPr bwMode="auto">
          <a:xfrm>
            <a:off x="175240" y="5563122"/>
            <a:ext cx="1807452" cy="1087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each &amp; Nectarine – BeFresh">
            <a:extLst>
              <a:ext uri="{FF2B5EF4-FFF2-40B4-BE49-F238E27FC236}">
                <a16:creationId xmlns:a16="http://schemas.microsoft.com/office/drawing/2014/main" id="{6AFFCE0F-21D8-4458-852D-8047543FC4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96" b="16296"/>
          <a:stretch/>
        </p:blipFill>
        <p:spPr bwMode="auto">
          <a:xfrm>
            <a:off x="0" y="1513674"/>
            <a:ext cx="1822996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uilding A Better Banana | Science | Smithsonian Magazine">
            <a:extLst>
              <a:ext uri="{FF2B5EF4-FFF2-40B4-BE49-F238E27FC236}">
                <a16:creationId xmlns:a16="http://schemas.microsoft.com/office/drawing/2014/main" id="{68E41B8A-5749-477F-9AFD-B86B480F59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9" t="5826" r="2919" b="7135"/>
          <a:stretch/>
        </p:blipFill>
        <p:spPr bwMode="auto">
          <a:xfrm>
            <a:off x="6974177" y="4988705"/>
            <a:ext cx="2322946" cy="1608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hy Nobody Can Copy Apple | cek.log">
            <a:extLst>
              <a:ext uri="{FF2B5EF4-FFF2-40B4-BE49-F238E27FC236}">
                <a16:creationId xmlns:a16="http://schemas.microsoft.com/office/drawing/2014/main" id="{192F2EFA-7CDA-4C89-B399-32C184A86C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7" r="7257"/>
          <a:stretch/>
        </p:blipFill>
        <p:spPr bwMode="auto">
          <a:xfrm>
            <a:off x="221939" y="3865901"/>
            <a:ext cx="1439242" cy="169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atermelon driving Korean-grown trend">
            <a:extLst>
              <a:ext uri="{FF2B5EF4-FFF2-40B4-BE49-F238E27FC236}">
                <a16:creationId xmlns:a16="http://schemas.microsoft.com/office/drawing/2014/main" id="{5CB20D0F-A43F-4BF3-9BB4-4B3F021740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7" t="10874" r="14983" b="5878"/>
          <a:stretch/>
        </p:blipFill>
        <p:spPr bwMode="auto">
          <a:xfrm>
            <a:off x="175240" y="2818989"/>
            <a:ext cx="1713822" cy="143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FDA investigates possible link between dog foods and heart disease">
            <a:extLst>
              <a:ext uri="{FF2B5EF4-FFF2-40B4-BE49-F238E27FC236}">
                <a16:creationId xmlns:a16="http://schemas.microsoft.com/office/drawing/2014/main" id="{A1A5258D-CD06-4477-A570-96AE793DC6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3" r="22633"/>
          <a:stretch/>
        </p:blipFill>
        <p:spPr bwMode="auto">
          <a:xfrm>
            <a:off x="9777094" y="5044489"/>
            <a:ext cx="1564044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Make your hamster feel at home | Wood Green - The Animals Charity">
            <a:extLst>
              <a:ext uri="{FF2B5EF4-FFF2-40B4-BE49-F238E27FC236}">
                <a16:creationId xmlns:a16="http://schemas.microsoft.com/office/drawing/2014/main" id="{F7D4BCAA-21F6-48CF-AF4F-CA5B8BDBBD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27" r="15727"/>
          <a:stretch/>
        </p:blipFill>
        <p:spPr bwMode="auto">
          <a:xfrm>
            <a:off x="2361717" y="5140726"/>
            <a:ext cx="1694846" cy="1304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40F3E047-AEEB-4877-96D4-69ED45B307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98"/>
          <a:stretch/>
        </p:blipFill>
        <p:spPr bwMode="auto">
          <a:xfrm>
            <a:off x="7148325" y="3045183"/>
            <a:ext cx="2148798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Thinking of getting a cat? | International Cat Care">
            <a:extLst>
              <a:ext uri="{FF2B5EF4-FFF2-40B4-BE49-F238E27FC236}">
                <a16:creationId xmlns:a16="http://schemas.microsoft.com/office/drawing/2014/main" id="{647FAEFB-6B32-450A-906D-6E1A0ACF39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9" r="17679"/>
          <a:stretch/>
        </p:blipFill>
        <p:spPr bwMode="auto">
          <a:xfrm>
            <a:off x="9587094" y="3479507"/>
            <a:ext cx="2148798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Can Parrots Really Talk? | Wonderopolis">
            <a:extLst>
              <a:ext uri="{FF2B5EF4-FFF2-40B4-BE49-F238E27FC236}">
                <a16:creationId xmlns:a16="http://schemas.microsoft.com/office/drawing/2014/main" id="{BD511EA5-2FF7-441D-A9B0-42F7C5D754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3" r="8803"/>
          <a:stretch/>
        </p:blipFill>
        <p:spPr bwMode="auto">
          <a:xfrm>
            <a:off x="9345018" y="1653771"/>
            <a:ext cx="222885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3A0306-C22B-40B6-B1D4-1DEAC75A0295}"/>
              </a:ext>
            </a:extLst>
          </p:cNvPr>
          <p:cNvSpPr txBox="1"/>
          <p:nvPr/>
        </p:nvSpPr>
        <p:spPr>
          <a:xfrm>
            <a:off x="5096849" y="1612116"/>
            <a:ext cx="1585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Is it round?</a:t>
            </a:r>
            <a:endParaRPr lang="en-GB" sz="2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1BD53A7-7B17-4786-8035-404E65E504A3}"/>
              </a:ext>
            </a:extLst>
          </p:cNvPr>
          <p:cNvCxnSpPr/>
          <p:nvPr/>
        </p:nvCxnSpPr>
        <p:spPr>
          <a:xfrm flipH="1">
            <a:off x="5013297" y="21190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D2AF10F-A5DB-4F73-8564-240A1E2B87F2}"/>
              </a:ext>
            </a:extLst>
          </p:cNvPr>
          <p:cNvCxnSpPr>
            <a:cxnSpLocks/>
          </p:cNvCxnSpPr>
          <p:nvPr/>
        </p:nvCxnSpPr>
        <p:spPr>
          <a:xfrm>
            <a:off x="6345161" y="21190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0C2AA36-FB3D-431B-AB84-07559C71D149}"/>
              </a:ext>
            </a:extLst>
          </p:cNvPr>
          <p:cNvSpPr txBox="1"/>
          <p:nvPr/>
        </p:nvSpPr>
        <p:spPr>
          <a:xfrm>
            <a:off x="5108228" y="2514493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0C014A-A8AB-46B7-84A5-75A51B56FA2A}"/>
              </a:ext>
            </a:extLst>
          </p:cNvPr>
          <p:cNvSpPr txBox="1"/>
          <p:nvPr/>
        </p:nvSpPr>
        <p:spPr>
          <a:xfrm>
            <a:off x="6051491" y="2514493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BBE26B-57EA-4B5B-84BE-C37EE6071071}"/>
              </a:ext>
            </a:extLst>
          </p:cNvPr>
          <p:cNvSpPr txBox="1"/>
          <p:nvPr/>
        </p:nvSpPr>
        <p:spPr>
          <a:xfrm>
            <a:off x="1473691" y="2430738"/>
            <a:ext cx="3587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Does it have a bright color?</a:t>
            </a:r>
            <a:endParaRPr lang="en-GB" sz="24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B669F02-C802-4582-A5F5-E9158EF06FBD}"/>
              </a:ext>
            </a:extLst>
          </p:cNvPr>
          <p:cNvCxnSpPr/>
          <p:nvPr/>
        </p:nvCxnSpPr>
        <p:spPr>
          <a:xfrm flipH="1">
            <a:off x="2173037" y="294244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D9FF5F-DFC5-4513-ABD3-07C1174BBBD4}"/>
              </a:ext>
            </a:extLst>
          </p:cNvPr>
          <p:cNvCxnSpPr>
            <a:cxnSpLocks/>
          </p:cNvCxnSpPr>
          <p:nvPr/>
        </p:nvCxnSpPr>
        <p:spPr>
          <a:xfrm>
            <a:off x="3504901" y="294244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A060FC6-97F5-43F4-AA0B-EF62C8ED5E8A}"/>
              </a:ext>
            </a:extLst>
          </p:cNvPr>
          <p:cNvSpPr txBox="1"/>
          <p:nvPr/>
        </p:nvSpPr>
        <p:spPr>
          <a:xfrm>
            <a:off x="2267968" y="3337913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767527-5A60-482F-8B24-CD321BC07D95}"/>
              </a:ext>
            </a:extLst>
          </p:cNvPr>
          <p:cNvSpPr txBox="1"/>
          <p:nvPr/>
        </p:nvSpPr>
        <p:spPr>
          <a:xfrm>
            <a:off x="3211231" y="3337913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pic>
        <p:nvPicPr>
          <p:cNvPr id="4" name="Picture 22" descr="Lychee, Longan and Rambutan: Why You Need to Be Eating These Cool, Juicy,  Exotic Asian Fruits This Summer - One Green Planet">
            <a:extLst>
              <a:ext uri="{FF2B5EF4-FFF2-40B4-BE49-F238E27FC236}">
                <a16:creationId xmlns:a16="http://schemas.microsoft.com/office/drawing/2014/main" id="{B5B8ABDB-7418-4CB1-A102-CF612AE077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596"/>
          <a:stretch/>
        </p:blipFill>
        <p:spPr bwMode="auto">
          <a:xfrm>
            <a:off x="4300903" y="5140726"/>
            <a:ext cx="1536207" cy="1304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4816657-6F52-4910-A3C3-D81606BC62B7}"/>
              </a:ext>
            </a:extLst>
          </p:cNvPr>
          <p:cNvSpPr txBox="1"/>
          <p:nvPr/>
        </p:nvSpPr>
        <p:spPr>
          <a:xfrm>
            <a:off x="2818796" y="3857742"/>
            <a:ext cx="3000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Is it heavier than 20 g?</a:t>
            </a:r>
            <a:endParaRPr lang="en-GB" sz="24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5739892-7142-4D56-8985-B84CBE1BD8FD}"/>
              </a:ext>
            </a:extLst>
          </p:cNvPr>
          <p:cNvCxnSpPr/>
          <p:nvPr/>
        </p:nvCxnSpPr>
        <p:spPr>
          <a:xfrm flipH="1">
            <a:off x="3138661" y="43314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0C146A8-01E2-46EC-96D1-ED1E515C3749}"/>
              </a:ext>
            </a:extLst>
          </p:cNvPr>
          <p:cNvCxnSpPr>
            <a:cxnSpLocks/>
          </p:cNvCxnSpPr>
          <p:nvPr/>
        </p:nvCxnSpPr>
        <p:spPr>
          <a:xfrm>
            <a:off x="4470525" y="43314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3AD8338-C4CF-4658-AE4D-97C0B8F4FF4D}"/>
              </a:ext>
            </a:extLst>
          </p:cNvPr>
          <p:cNvSpPr txBox="1"/>
          <p:nvPr/>
        </p:nvSpPr>
        <p:spPr>
          <a:xfrm>
            <a:off x="3233592" y="4726893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BADCD7-21B6-48A9-A125-A13E097D51BB}"/>
              </a:ext>
            </a:extLst>
          </p:cNvPr>
          <p:cNvSpPr txBox="1"/>
          <p:nvPr/>
        </p:nvSpPr>
        <p:spPr>
          <a:xfrm>
            <a:off x="4176855" y="4726893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17752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40F72-E887-4CBC-823B-C6BAB32BB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  <a:endParaRPr lang="en-GB" dirty="0"/>
          </a:p>
        </p:txBody>
      </p:sp>
      <p:pic>
        <p:nvPicPr>
          <p:cNvPr id="1026" name="Picture 2" descr="What has more vitamin C than oranges? | Jupiter Marketing Ltd">
            <a:extLst>
              <a:ext uri="{FF2B5EF4-FFF2-40B4-BE49-F238E27FC236}">
                <a16:creationId xmlns:a16="http://schemas.microsoft.com/office/drawing/2014/main" id="{9DE65695-5F4F-4708-8D26-00073486A9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2" b="8243"/>
          <a:stretch/>
        </p:blipFill>
        <p:spPr bwMode="auto">
          <a:xfrm>
            <a:off x="175240" y="5563122"/>
            <a:ext cx="1807452" cy="1087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each &amp; Nectarine – BeFresh">
            <a:extLst>
              <a:ext uri="{FF2B5EF4-FFF2-40B4-BE49-F238E27FC236}">
                <a16:creationId xmlns:a16="http://schemas.microsoft.com/office/drawing/2014/main" id="{6AFFCE0F-21D8-4458-852D-8047543FC4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96" b="16296"/>
          <a:stretch/>
        </p:blipFill>
        <p:spPr bwMode="auto">
          <a:xfrm>
            <a:off x="0" y="1513674"/>
            <a:ext cx="1822996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uilding A Better Banana | Science | Smithsonian Magazine">
            <a:extLst>
              <a:ext uri="{FF2B5EF4-FFF2-40B4-BE49-F238E27FC236}">
                <a16:creationId xmlns:a16="http://schemas.microsoft.com/office/drawing/2014/main" id="{68E41B8A-5749-477F-9AFD-B86B480F59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9" t="5826" r="2919" b="7135"/>
          <a:stretch/>
        </p:blipFill>
        <p:spPr bwMode="auto">
          <a:xfrm>
            <a:off x="9737518" y="3027885"/>
            <a:ext cx="2322946" cy="1608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hy Nobody Can Copy Apple | cek.log">
            <a:extLst>
              <a:ext uri="{FF2B5EF4-FFF2-40B4-BE49-F238E27FC236}">
                <a16:creationId xmlns:a16="http://schemas.microsoft.com/office/drawing/2014/main" id="{192F2EFA-7CDA-4C89-B399-32C184A86C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7" r="7257"/>
          <a:stretch/>
        </p:blipFill>
        <p:spPr bwMode="auto">
          <a:xfrm>
            <a:off x="221939" y="3865901"/>
            <a:ext cx="1439242" cy="169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atermelon driving Korean-grown trend">
            <a:extLst>
              <a:ext uri="{FF2B5EF4-FFF2-40B4-BE49-F238E27FC236}">
                <a16:creationId xmlns:a16="http://schemas.microsoft.com/office/drawing/2014/main" id="{5CB20D0F-A43F-4BF3-9BB4-4B3F021740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7" t="10874" r="14983" b="5878"/>
          <a:stretch/>
        </p:blipFill>
        <p:spPr bwMode="auto">
          <a:xfrm>
            <a:off x="175240" y="2818989"/>
            <a:ext cx="1713822" cy="143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FDA investigates possible link between dog foods and heart disease">
            <a:extLst>
              <a:ext uri="{FF2B5EF4-FFF2-40B4-BE49-F238E27FC236}">
                <a16:creationId xmlns:a16="http://schemas.microsoft.com/office/drawing/2014/main" id="{A1A5258D-CD06-4477-A570-96AE793DC6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3" r="22633"/>
          <a:stretch/>
        </p:blipFill>
        <p:spPr bwMode="auto">
          <a:xfrm>
            <a:off x="5978042" y="5084339"/>
            <a:ext cx="1564044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40F3E047-AEEB-4877-96D4-69ED45B307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98"/>
          <a:stretch/>
        </p:blipFill>
        <p:spPr bwMode="auto">
          <a:xfrm>
            <a:off x="5978042" y="3711859"/>
            <a:ext cx="1551961" cy="1334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Thinking of getting a cat? | International Cat Care">
            <a:extLst>
              <a:ext uri="{FF2B5EF4-FFF2-40B4-BE49-F238E27FC236}">
                <a16:creationId xmlns:a16="http://schemas.microsoft.com/office/drawing/2014/main" id="{647FAEFB-6B32-450A-906D-6E1A0ACF39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9" r="17679"/>
          <a:stretch/>
        </p:blipFill>
        <p:spPr bwMode="auto">
          <a:xfrm>
            <a:off x="7558020" y="5447755"/>
            <a:ext cx="1649756" cy="116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Can Parrots Really Talk? | Wonderopolis">
            <a:extLst>
              <a:ext uri="{FF2B5EF4-FFF2-40B4-BE49-F238E27FC236}">
                <a16:creationId xmlns:a16="http://schemas.microsoft.com/office/drawing/2014/main" id="{BD511EA5-2FF7-441D-A9B0-42F7C5D754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3" r="8803"/>
          <a:stretch/>
        </p:blipFill>
        <p:spPr bwMode="auto">
          <a:xfrm>
            <a:off x="7582280" y="4143041"/>
            <a:ext cx="1669415" cy="126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3A0306-C22B-40B6-B1D4-1DEAC75A0295}"/>
              </a:ext>
            </a:extLst>
          </p:cNvPr>
          <p:cNvSpPr txBox="1"/>
          <p:nvPr/>
        </p:nvSpPr>
        <p:spPr>
          <a:xfrm>
            <a:off x="5096849" y="1612116"/>
            <a:ext cx="1585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Is it round?</a:t>
            </a:r>
            <a:endParaRPr lang="en-GB" sz="2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1BD53A7-7B17-4786-8035-404E65E504A3}"/>
              </a:ext>
            </a:extLst>
          </p:cNvPr>
          <p:cNvCxnSpPr/>
          <p:nvPr/>
        </p:nvCxnSpPr>
        <p:spPr>
          <a:xfrm flipH="1">
            <a:off x="5013297" y="21190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D2AF10F-A5DB-4F73-8564-240A1E2B87F2}"/>
              </a:ext>
            </a:extLst>
          </p:cNvPr>
          <p:cNvCxnSpPr>
            <a:cxnSpLocks/>
          </p:cNvCxnSpPr>
          <p:nvPr/>
        </p:nvCxnSpPr>
        <p:spPr>
          <a:xfrm>
            <a:off x="6345161" y="21190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0C2AA36-FB3D-431B-AB84-07559C71D149}"/>
              </a:ext>
            </a:extLst>
          </p:cNvPr>
          <p:cNvSpPr txBox="1"/>
          <p:nvPr/>
        </p:nvSpPr>
        <p:spPr>
          <a:xfrm>
            <a:off x="5108228" y="2514493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0C014A-A8AB-46B7-84A5-75A51B56FA2A}"/>
              </a:ext>
            </a:extLst>
          </p:cNvPr>
          <p:cNvSpPr txBox="1"/>
          <p:nvPr/>
        </p:nvSpPr>
        <p:spPr>
          <a:xfrm>
            <a:off x="6051491" y="2514493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BBE26B-57EA-4B5B-84BE-C37EE6071071}"/>
              </a:ext>
            </a:extLst>
          </p:cNvPr>
          <p:cNvSpPr txBox="1"/>
          <p:nvPr/>
        </p:nvSpPr>
        <p:spPr>
          <a:xfrm>
            <a:off x="1473691" y="2430738"/>
            <a:ext cx="3587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Does it have a bright color?</a:t>
            </a:r>
            <a:endParaRPr lang="en-GB" sz="24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B669F02-C802-4582-A5F5-E9158EF06FBD}"/>
              </a:ext>
            </a:extLst>
          </p:cNvPr>
          <p:cNvCxnSpPr/>
          <p:nvPr/>
        </p:nvCxnSpPr>
        <p:spPr>
          <a:xfrm flipH="1">
            <a:off x="2173037" y="294244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D9FF5F-DFC5-4513-ABD3-07C1174BBBD4}"/>
              </a:ext>
            </a:extLst>
          </p:cNvPr>
          <p:cNvCxnSpPr>
            <a:cxnSpLocks/>
          </p:cNvCxnSpPr>
          <p:nvPr/>
        </p:nvCxnSpPr>
        <p:spPr>
          <a:xfrm>
            <a:off x="3504901" y="294244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A060FC6-97F5-43F4-AA0B-EF62C8ED5E8A}"/>
              </a:ext>
            </a:extLst>
          </p:cNvPr>
          <p:cNvSpPr txBox="1"/>
          <p:nvPr/>
        </p:nvSpPr>
        <p:spPr>
          <a:xfrm>
            <a:off x="2267968" y="3337913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767527-5A60-482F-8B24-CD321BC07D95}"/>
              </a:ext>
            </a:extLst>
          </p:cNvPr>
          <p:cNvSpPr txBox="1"/>
          <p:nvPr/>
        </p:nvSpPr>
        <p:spPr>
          <a:xfrm>
            <a:off x="3211231" y="3337913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EBCBF0-FF0B-4364-BE9C-353C4643B22B}"/>
              </a:ext>
            </a:extLst>
          </p:cNvPr>
          <p:cNvSpPr txBox="1"/>
          <p:nvPr/>
        </p:nvSpPr>
        <p:spPr>
          <a:xfrm>
            <a:off x="6890503" y="2514493"/>
            <a:ext cx="2984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Is it heavier than 1 kg?</a:t>
            </a:r>
            <a:endParaRPr lang="en-GB" sz="24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AF4177A-8E56-4DA7-870F-BE57B0CE0505}"/>
              </a:ext>
            </a:extLst>
          </p:cNvPr>
          <p:cNvCxnSpPr/>
          <p:nvPr/>
        </p:nvCxnSpPr>
        <p:spPr>
          <a:xfrm flipH="1">
            <a:off x="7750622" y="3085557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5856B4D-DEBF-4EB5-8460-6CBBD701346F}"/>
              </a:ext>
            </a:extLst>
          </p:cNvPr>
          <p:cNvCxnSpPr>
            <a:cxnSpLocks/>
          </p:cNvCxnSpPr>
          <p:nvPr/>
        </p:nvCxnSpPr>
        <p:spPr>
          <a:xfrm>
            <a:off x="9082486" y="3085557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07AD9FC-D525-4AD3-8DE3-9817BE014D7D}"/>
              </a:ext>
            </a:extLst>
          </p:cNvPr>
          <p:cNvSpPr txBox="1"/>
          <p:nvPr/>
        </p:nvSpPr>
        <p:spPr>
          <a:xfrm>
            <a:off x="7845553" y="3481027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0365E8-12AC-479A-A8BA-F02F6D24DF78}"/>
              </a:ext>
            </a:extLst>
          </p:cNvPr>
          <p:cNvSpPr txBox="1"/>
          <p:nvPr/>
        </p:nvSpPr>
        <p:spPr>
          <a:xfrm>
            <a:off x="8788816" y="3481027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D89670-8B28-4A91-AA4D-1ADDDBE57794}"/>
              </a:ext>
            </a:extLst>
          </p:cNvPr>
          <p:cNvSpPr/>
          <p:nvPr/>
        </p:nvSpPr>
        <p:spPr>
          <a:xfrm>
            <a:off x="9582749" y="561825"/>
            <a:ext cx="2126974" cy="202615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7E6D2C-27B4-4B46-B7CB-81A73EB024F8}"/>
              </a:ext>
            </a:extLst>
          </p:cNvPr>
          <p:cNvSpPr txBox="1"/>
          <p:nvPr/>
        </p:nvSpPr>
        <p:spPr>
          <a:xfrm>
            <a:off x="10139894" y="623692"/>
            <a:ext cx="889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set</a:t>
            </a:r>
            <a:endParaRPr lang="en-GB" dirty="0"/>
          </a:p>
        </p:txBody>
      </p:sp>
      <p:pic>
        <p:nvPicPr>
          <p:cNvPr id="40" name="Picture 14" descr="Make your hamster feel at home | Wood Green - The Animals Charity">
            <a:extLst>
              <a:ext uri="{FF2B5EF4-FFF2-40B4-BE49-F238E27FC236}">
                <a16:creationId xmlns:a16="http://schemas.microsoft.com/office/drawing/2014/main" id="{5A8BF8B6-5410-4A03-A651-AB90E3315C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27" r="15727"/>
          <a:stretch/>
        </p:blipFill>
        <p:spPr bwMode="auto">
          <a:xfrm>
            <a:off x="2361717" y="5140726"/>
            <a:ext cx="1694846" cy="1304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2" descr="Lychee, Longan and Rambutan: Why You Need to Be Eating These Cool, Juicy,  Exotic Asian Fruits This Summer - One Green Planet">
            <a:extLst>
              <a:ext uri="{FF2B5EF4-FFF2-40B4-BE49-F238E27FC236}">
                <a16:creationId xmlns:a16="http://schemas.microsoft.com/office/drawing/2014/main" id="{5F1D8973-CF95-4716-8648-D4CA348138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596"/>
          <a:stretch/>
        </p:blipFill>
        <p:spPr bwMode="auto">
          <a:xfrm>
            <a:off x="4300903" y="5140726"/>
            <a:ext cx="1536207" cy="1304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D41B366E-5CFD-49C6-B97E-35755BE99369}"/>
              </a:ext>
            </a:extLst>
          </p:cNvPr>
          <p:cNvSpPr txBox="1"/>
          <p:nvPr/>
        </p:nvSpPr>
        <p:spPr>
          <a:xfrm>
            <a:off x="2818796" y="3857742"/>
            <a:ext cx="3000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Is it heavier than 20 g?</a:t>
            </a:r>
            <a:endParaRPr lang="en-GB" sz="2400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CBE6375-B1CB-45E6-861A-C458325A86A6}"/>
              </a:ext>
            </a:extLst>
          </p:cNvPr>
          <p:cNvCxnSpPr/>
          <p:nvPr/>
        </p:nvCxnSpPr>
        <p:spPr>
          <a:xfrm flipH="1">
            <a:off x="3138661" y="43314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1159981-45B1-4296-974F-2B2379154D7C}"/>
              </a:ext>
            </a:extLst>
          </p:cNvPr>
          <p:cNvCxnSpPr>
            <a:cxnSpLocks/>
          </p:cNvCxnSpPr>
          <p:nvPr/>
        </p:nvCxnSpPr>
        <p:spPr>
          <a:xfrm>
            <a:off x="4470525" y="43314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CCC09B6-9498-4E64-A834-769CC5257FBD}"/>
              </a:ext>
            </a:extLst>
          </p:cNvPr>
          <p:cNvSpPr txBox="1"/>
          <p:nvPr/>
        </p:nvSpPr>
        <p:spPr>
          <a:xfrm>
            <a:off x="3233592" y="4726893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CA94043-05F0-45CD-8CE8-DA22CF5DB625}"/>
              </a:ext>
            </a:extLst>
          </p:cNvPr>
          <p:cNvSpPr txBox="1"/>
          <p:nvPr/>
        </p:nvSpPr>
        <p:spPr>
          <a:xfrm>
            <a:off x="4176855" y="4726893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pic>
        <p:nvPicPr>
          <p:cNvPr id="7" name="Picture 2" descr="Fate of meerkats tied to seasonal climate effects">
            <a:extLst>
              <a:ext uri="{FF2B5EF4-FFF2-40B4-BE49-F238E27FC236}">
                <a16:creationId xmlns:a16="http://schemas.microsoft.com/office/drawing/2014/main" id="{5F79DEA9-F121-487C-BF8B-64C37EE770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62"/>
          <a:stretch/>
        </p:blipFill>
        <p:spPr bwMode="auto">
          <a:xfrm>
            <a:off x="9670869" y="942705"/>
            <a:ext cx="1976601" cy="1599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 descr="Fate of meerkats tied to seasonal climate effects">
            <a:extLst>
              <a:ext uri="{FF2B5EF4-FFF2-40B4-BE49-F238E27FC236}">
                <a16:creationId xmlns:a16="http://schemas.microsoft.com/office/drawing/2014/main" id="{2A116A90-7B8F-406A-858B-05DC007A25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62"/>
          <a:stretch/>
        </p:blipFill>
        <p:spPr bwMode="auto">
          <a:xfrm>
            <a:off x="9670869" y="942704"/>
            <a:ext cx="1976601" cy="1599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231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4.81481E-6 L -0.39544 -0.12315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779" y="-6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9544 -0.12315 L -0.19427 0.0085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52" y="65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427 0.00856 L 0.01198 0.5405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312" y="26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Building A Better Banana | Science | Smithsonian Magazine">
            <a:extLst>
              <a:ext uri="{FF2B5EF4-FFF2-40B4-BE49-F238E27FC236}">
                <a16:creationId xmlns:a16="http://schemas.microsoft.com/office/drawing/2014/main" id="{68E41B8A-5749-477F-9AFD-B86B480F59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9" t="5826" r="2919" b="7135"/>
          <a:stretch/>
        </p:blipFill>
        <p:spPr bwMode="auto">
          <a:xfrm>
            <a:off x="2582473" y="2096470"/>
            <a:ext cx="2322946" cy="1608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C40F72-E887-4CBC-823B-C6BAB32BB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  <a:endParaRPr lang="en-GB" dirty="0"/>
          </a:p>
        </p:txBody>
      </p:sp>
      <p:pic>
        <p:nvPicPr>
          <p:cNvPr id="1026" name="Picture 2" descr="What has more vitamin C than oranges? | Jupiter Marketing Ltd">
            <a:extLst>
              <a:ext uri="{FF2B5EF4-FFF2-40B4-BE49-F238E27FC236}">
                <a16:creationId xmlns:a16="http://schemas.microsoft.com/office/drawing/2014/main" id="{9DE65695-5F4F-4708-8D26-00073486A9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2" b="8243"/>
          <a:stretch/>
        </p:blipFill>
        <p:spPr bwMode="auto">
          <a:xfrm>
            <a:off x="2626830" y="5242580"/>
            <a:ext cx="2581275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each &amp; Nectarine – BeFresh">
            <a:extLst>
              <a:ext uri="{FF2B5EF4-FFF2-40B4-BE49-F238E27FC236}">
                <a16:creationId xmlns:a16="http://schemas.microsoft.com/office/drawing/2014/main" id="{6AFFCE0F-21D8-4458-852D-8047543FC4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96" b="16296"/>
          <a:stretch/>
        </p:blipFill>
        <p:spPr bwMode="auto">
          <a:xfrm>
            <a:off x="2773463" y="3548484"/>
            <a:ext cx="2057400" cy="1496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hy Nobody Can Copy Apple | cek.log">
            <a:extLst>
              <a:ext uri="{FF2B5EF4-FFF2-40B4-BE49-F238E27FC236}">
                <a16:creationId xmlns:a16="http://schemas.microsoft.com/office/drawing/2014/main" id="{192F2EFA-7CDA-4C89-B399-32C184A86C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7" r="7257"/>
          <a:stretch/>
        </p:blipFill>
        <p:spPr bwMode="auto">
          <a:xfrm>
            <a:off x="628206" y="4339375"/>
            <a:ext cx="1776982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atermelon driving Korean-grown trend">
            <a:extLst>
              <a:ext uri="{FF2B5EF4-FFF2-40B4-BE49-F238E27FC236}">
                <a16:creationId xmlns:a16="http://schemas.microsoft.com/office/drawing/2014/main" id="{5CB20D0F-A43F-4BF3-9BB4-4B3F021740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7" t="10874" r="14983" b="5878"/>
          <a:stretch/>
        </p:blipFill>
        <p:spPr bwMode="auto">
          <a:xfrm>
            <a:off x="503136" y="1540947"/>
            <a:ext cx="1713822" cy="143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FDA investigates possible link between dog foods and heart disease">
            <a:extLst>
              <a:ext uri="{FF2B5EF4-FFF2-40B4-BE49-F238E27FC236}">
                <a16:creationId xmlns:a16="http://schemas.microsoft.com/office/drawing/2014/main" id="{A1A5258D-CD06-4477-A570-96AE793DC6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3" r="22633"/>
          <a:stretch/>
        </p:blipFill>
        <p:spPr bwMode="auto">
          <a:xfrm>
            <a:off x="9601176" y="4352925"/>
            <a:ext cx="1564044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Make your hamster feel at home | Wood Green - The Animals Charity">
            <a:extLst>
              <a:ext uri="{FF2B5EF4-FFF2-40B4-BE49-F238E27FC236}">
                <a16:creationId xmlns:a16="http://schemas.microsoft.com/office/drawing/2014/main" id="{F7D4BCAA-21F6-48CF-AF4F-CA5B8BDBBD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27" r="15727"/>
          <a:stretch/>
        </p:blipFill>
        <p:spPr bwMode="auto">
          <a:xfrm>
            <a:off x="7473856" y="4412593"/>
            <a:ext cx="2017436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40F3E047-AEEB-4877-96D4-69ED45B307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98"/>
          <a:stretch/>
        </p:blipFill>
        <p:spPr bwMode="auto">
          <a:xfrm>
            <a:off x="7086863" y="2505075"/>
            <a:ext cx="2148798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Thinking of getting a cat? | International Cat Care">
            <a:extLst>
              <a:ext uri="{FF2B5EF4-FFF2-40B4-BE49-F238E27FC236}">
                <a16:creationId xmlns:a16="http://schemas.microsoft.com/office/drawing/2014/main" id="{647FAEFB-6B32-450A-906D-6E1A0ACF39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9" r="17679"/>
          <a:stretch/>
        </p:blipFill>
        <p:spPr bwMode="auto">
          <a:xfrm>
            <a:off x="9308799" y="2791246"/>
            <a:ext cx="2148798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Can Parrots Really Talk? | Wonderopolis">
            <a:extLst>
              <a:ext uri="{FF2B5EF4-FFF2-40B4-BE49-F238E27FC236}">
                <a16:creationId xmlns:a16="http://schemas.microsoft.com/office/drawing/2014/main" id="{BD511EA5-2FF7-441D-A9B0-42F7C5D754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3" r="8803"/>
          <a:stretch/>
        </p:blipFill>
        <p:spPr bwMode="auto">
          <a:xfrm>
            <a:off x="176338" y="3122699"/>
            <a:ext cx="222885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3A0306-C22B-40B6-B1D4-1DEAC75A0295}"/>
              </a:ext>
            </a:extLst>
          </p:cNvPr>
          <p:cNvSpPr txBox="1"/>
          <p:nvPr/>
        </p:nvSpPr>
        <p:spPr>
          <a:xfrm>
            <a:off x="4226181" y="1612116"/>
            <a:ext cx="3587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Does it have a bright color?</a:t>
            </a:r>
            <a:endParaRPr lang="en-GB" sz="2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1BD53A7-7B17-4786-8035-404E65E504A3}"/>
              </a:ext>
            </a:extLst>
          </p:cNvPr>
          <p:cNvCxnSpPr/>
          <p:nvPr/>
        </p:nvCxnSpPr>
        <p:spPr>
          <a:xfrm flipH="1">
            <a:off x="5013297" y="21190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D2AF10F-A5DB-4F73-8564-240A1E2B87F2}"/>
              </a:ext>
            </a:extLst>
          </p:cNvPr>
          <p:cNvCxnSpPr>
            <a:cxnSpLocks/>
          </p:cNvCxnSpPr>
          <p:nvPr/>
        </p:nvCxnSpPr>
        <p:spPr>
          <a:xfrm>
            <a:off x="6345161" y="21190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0C2AA36-FB3D-431B-AB84-07559C71D149}"/>
              </a:ext>
            </a:extLst>
          </p:cNvPr>
          <p:cNvSpPr txBox="1"/>
          <p:nvPr/>
        </p:nvSpPr>
        <p:spPr>
          <a:xfrm>
            <a:off x="5108228" y="2514493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0C014A-A8AB-46B7-84A5-75A51B56FA2A}"/>
              </a:ext>
            </a:extLst>
          </p:cNvPr>
          <p:cNvSpPr txBox="1"/>
          <p:nvPr/>
        </p:nvSpPr>
        <p:spPr>
          <a:xfrm>
            <a:off x="6051491" y="2514493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pic>
        <p:nvPicPr>
          <p:cNvPr id="4" name="Picture 22" descr="Lychee, Longan and Rambutan: Why You Need to Be Eating These Cool, Juicy,  Exotic Asian Fruits This Summer - One Green Planet">
            <a:extLst>
              <a:ext uri="{FF2B5EF4-FFF2-40B4-BE49-F238E27FC236}">
                <a16:creationId xmlns:a16="http://schemas.microsoft.com/office/drawing/2014/main" id="{7D387EA9-5EDF-48BF-9DFD-3DEF2232D6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596"/>
          <a:stretch/>
        </p:blipFill>
        <p:spPr bwMode="auto">
          <a:xfrm>
            <a:off x="9308799" y="1027906"/>
            <a:ext cx="198566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8202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Peach &amp; Nectarine – BeFresh">
            <a:extLst>
              <a:ext uri="{FF2B5EF4-FFF2-40B4-BE49-F238E27FC236}">
                <a16:creationId xmlns:a16="http://schemas.microsoft.com/office/drawing/2014/main" id="{6A93A900-7C94-4D58-B2F9-018B556EE7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96" b="16296"/>
          <a:stretch/>
        </p:blipFill>
        <p:spPr bwMode="auto">
          <a:xfrm>
            <a:off x="4589984" y="3881843"/>
            <a:ext cx="1506016" cy="1095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Building A Better Banana | Science | Smithsonian Magazine">
            <a:extLst>
              <a:ext uri="{FF2B5EF4-FFF2-40B4-BE49-F238E27FC236}">
                <a16:creationId xmlns:a16="http://schemas.microsoft.com/office/drawing/2014/main" id="{874DBEBE-B6FA-4265-97E8-8049DAABF8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9" t="5826" r="2919" b="7135"/>
          <a:stretch/>
        </p:blipFill>
        <p:spPr bwMode="auto">
          <a:xfrm>
            <a:off x="3038016" y="3496660"/>
            <a:ext cx="1700397" cy="1177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What has more vitamin C than oranges? | Jupiter Marketing Ltd">
            <a:extLst>
              <a:ext uri="{FF2B5EF4-FFF2-40B4-BE49-F238E27FC236}">
                <a16:creationId xmlns:a16="http://schemas.microsoft.com/office/drawing/2014/main" id="{0D8A2AC0-1738-443B-8DCB-CE303A672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2" b="8243"/>
          <a:stretch/>
        </p:blipFill>
        <p:spPr bwMode="auto">
          <a:xfrm>
            <a:off x="4429824" y="5017575"/>
            <a:ext cx="1889493" cy="1136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Why Nobody Can Copy Apple | cek.log">
            <a:extLst>
              <a:ext uri="{FF2B5EF4-FFF2-40B4-BE49-F238E27FC236}">
                <a16:creationId xmlns:a16="http://schemas.microsoft.com/office/drawing/2014/main" id="{0F8FC221-DC4E-4617-8013-4E50028AAD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7" r="7257"/>
          <a:stretch/>
        </p:blipFill>
        <p:spPr bwMode="auto">
          <a:xfrm>
            <a:off x="3129073" y="4541250"/>
            <a:ext cx="1300751" cy="1533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C40F72-E887-4CBC-823B-C6BAB32BB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  <a:endParaRPr lang="en-GB" dirty="0"/>
          </a:p>
        </p:txBody>
      </p:sp>
      <p:pic>
        <p:nvPicPr>
          <p:cNvPr id="1034" name="Picture 10" descr="Watermelon driving Korean-grown trend">
            <a:extLst>
              <a:ext uri="{FF2B5EF4-FFF2-40B4-BE49-F238E27FC236}">
                <a16:creationId xmlns:a16="http://schemas.microsoft.com/office/drawing/2014/main" id="{5CB20D0F-A43F-4BF3-9BB4-4B3F021740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7" t="10874" r="14983" b="5878"/>
          <a:stretch/>
        </p:blipFill>
        <p:spPr bwMode="auto">
          <a:xfrm>
            <a:off x="532338" y="3378461"/>
            <a:ext cx="1388516" cy="1162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FDA investigates possible link between dog foods and heart disease">
            <a:extLst>
              <a:ext uri="{FF2B5EF4-FFF2-40B4-BE49-F238E27FC236}">
                <a16:creationId xmlns:a16="http://schemas.microsoft.com/office/drawing/2014/main" id="{A1A5258D-CD06-4477-A570-96AE793DC6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3" r="22633"/>
          <a:stretch/>
        </p:blipFill>
        <p:spPr bwMode="auto">
          <a:xfrm>
            <a:off x="9601176" y="4352925"/>
            <a:ext cx="1564044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Make your hamster feel at home | Wood Green - The Animals Charity">
            <a:extLst>
              <a:ext uri="{FF2B5EF4-FFF2-40B4-BE49-F238E27FC236}">
                <a16:creationId xmlns:a16="http://schemas.microsoft.com/office/drawing/2014/main" id="{F7D4BCAA-21F6-48CF-AF4F-CA5B8BDBBD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27" r="15727"/>
          <a:stretch/>
        </p:blipFill>
        <p:spPr bwMode="auto">
          <a:xfrm>
            <a:off x="7473856" y="4412593"/>
            <a:ext cx="2017436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40F3E047-AEEB-4877-96D4-69ED45B307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98"/>
          <a:stretch/>
        </p:blipFill>
        <p:spPr bwMode="auto">
          <a:xfrm>
            <a:off x="7086863" y="2505075"/>
            <a:ext cx="2148798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Thinking of getting a cat? | International Cat Care">
            <a:extLst>
              <a:ext uri="{FF2B5EF4-FFF2-40B4-BE49-F238E27FC236}">
                <a16:creationId xmlns:a16="http://schemas.microsoft.com/office/drawing/2014/main" id="{647FAEFB-6B32-450A-906D-6E1A0ACF39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9" r="17679"/>
          <a:stretch/>
        </p:blipFill>
        <p:spPr bwMode="auto">
          <a:xfrm>
            <a:off x="9308799" y="2791246"/>
            <a:ext cx="2148798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Can Parrots Really Talk? | Wonderopolis">
            <a:extLst>
              <a:ext uri="{FF2B5EF4-FFF2-40B4-BE49-F238E27FC236}">
                <a16:creationId xmlns:a16="http://schemas.microsoft.com/office/drawing/2014/main" id="{BD511EA5-2FF7-441D-A9B0-42F7C5D754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3" r="8803"/>
          <a:stretch/>
        </p:blipFill>
        <p:spPr bwMode="auto">
          <a:xfrm>
            <a:off x="596318" y="4863109"/>
            <a:ext cx="1805785" cy="1365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3A0306-C22B-40B6-B1D4-1DEAC75A0295}"/>
              </a:ext>
            </a:extLst>
          </p:cNvPr>
          <p:cNvSpPr txBox="1"/>
          <p:nvPr/>
        </p:nvSpPr>
        <p:spPr>
          <a:xfrm>
            <a:off x="4226181" y="1612116"/>
            <a:ext cx="3587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Does it have a bright color?</a:t>
            </a:r>
            <a:endParaRPr lang="en-GB" sz="2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1BD53A7-7B17-4786-8035-404E65E504A3}"/>
              </a:ext>
            </a:extLst>
          </p:cNvPr>
          <p:cNvCxnSpPr/>
          <p:nvPr/>
        </p:nvCxnSpPr>
        <p:spPr>
          <a:xfrm flipH="1">
            <a:off x="5013297" y="21190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D2AF10F-A5DB-4F73-8564-240A1E2B87F2}"/>
              </a:ext>
            </a:extLst>
          </p:cNvPr>
          <p:cNvCxnSpPr>
            <a:cxnSpLocks/>
          </p:cNvCxnSpPr>
          <p:nvPr/>
        </p:nvCxnSpPr>
        <p:spPr>
          <a:xfrm>
            <a:off x="6345161" y="21190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0C2AA36-FB3D-431B-AB84-07559C71D149}"/>
              </a:ext>
            </a:extLst>
          </p:cNvPr>
          <p:cNvSpPr txBox="1"/>
          <p:nvPr/>
        </p:nvSpPr>
        <p:spPr>
          <a:xfrm>
            <a:off x="5108228" y="2514493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0C014A-A8AB-46B7-84A5-75A51B56FA2A}"/>
              </a:ext>
            </a:extLst>
          </p:cNvPr>
          <p:cNvSpPr txBox="1"/>
          <p:nvPr/>
        </p:nvSpPr>
        <p:spPr>
          <a:xfrm>
            <a:off x="6051491" y="2514493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0DDA4D-02D6-48CD-AD40-B8018EA6E6E3}"/>
              </a:ext>
            </a:extLst>
          </p:cNvPr>
          <p:cNvSpPr txBox="1"/>
          <p:nvPr/>
        </p:nvSpPr>
        <p:spPr>
          <a:xfrm>
            <a:off x="1574045" y="2436480"/>
            <a:ext cx="2984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Is it heavier than 1 kg?</a:t>
            </a:r>
            <a:endParaRPr lang="en-GB" sz="24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2B3A030-9BDD-4254-8D1B-1AD388D57E3F}"/>
              </a:ext>
            </a:extLst>
          </p:cNvPr>
          <p:cNvCxnSpPr/>
          <p:nvPr/>
        </p:nvCxnSpPr>
        <p:spPr>
          <a:xfrm flipH="1">
            <a:off x="2070938" y="2925260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2DABBA-4892-421A-B7F4-EE139939F260}"/>
              </a:ext>
            </a:extLst>
          </p:cNvPr>
          <p:cNvCxnSpPr>
            <a:cxnSpLocks/>
          </p:cNvCxnSpPr>
          <p:nvPr/>
        </p:nvCxnSpPr>
        <p:spPr>
          <a:xfrm>
            <a:off x="3402802" y="2925260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242139C-3623-4694-AC4E-F51702D4D5B9}"/>
              </a:ext>
            </a:extLst>
          </p:cNvPr>
          <p:cNvSpPr txBox="1"/>
          <p:nvPr/>
        </p:nvSpPr>
        <p:spPr>
          <a:xfrm>
            <a:off x="2165869" y="3320730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ECFB5F-DB75-4668-9CCB-05A7473F62FB}"/>
              </a:ext>
            </a:extLst>
          </p:cNvPr>
          <p:cNvSpPr txBox="1"/>
          <p:nvPr/>
        </p:nvSpPr>
        <p:spPr>
          <a:xfrm>
            <a:off x="3109132" y="3320730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pic>
        <p:nvPicPr>
          <p:cNvPr id="9" name="Picture 22" descr="Lychee, Longan and Rambutan: Why You Need to Be Eating These Cool, Juicy,  Exotic Asian Fruits This Summer - One Green Planet">
            <a:extLst>
              <a:ext uri="{FF2B5EF4-FFF2-40B4-BE49-F238E27FC236}">
                <a16:creationId xmlns:a16="http://schemas.microsoft.com/office/drawing/2014/main" id="{70EBA5C1-1ADD-442A-9B4F-F2C0A6FB5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596"/>
          <a:stretch/>
        </p:blipFill>
        <p:spPr bwMode="auto">
          <a:xfrm>
            <a:off x="9308799" y="1027906"/>
            <a:ext cx="198566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714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40F72-E887-4CBC-823B-C6BAB32BB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  <a:endParaRPr lang="en-GB" dirty="0"/>
          </a:p>
        </p:txBody>
      </p:sp>
      <p:pic>
        <p:nvPicPr>
          <p:cNvPr id="1034" name="Picture 10" descr="Watermelon driving Korean-grown trend">
            <a:extLst>
              <a:ext uri="{FF2B5EF4-FFF2-40B4-BE49-F238E27FC236}">
                <a16:creationId xmlns:a16="http://schemas.microsoft.com/office/drawing/2014/main" id="{5CB20D0F-A43F-4BF3-9BB4-4B3F021740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7" t="10874" r="14983" b="5878"/>
          <a:stretch/>
        </p:blipFill>
        <p:spPr bwMode="auto">
          <a:xfrm>
            <a:off x="532338" y="3378461"/>
            <a:ext cx="1388516" cy="1162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FDA investigates possible link between dog foods and heart disease">
            <a:extLst>
              <a:ext uri="{FF2B5EF4-FFF2-40B4-BE49-F238E27FC236}">
                <a16:creationId xmlns:a16="http://schemas.microsoft.com/office/drawing/2014/main" id="{A1A5258D-CD06-4477-A570-96AE793DC6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3" r="22633"/>
          <a:stretch/>
        </p:blipFill>
        <p:spPr bwMode="auto">
          <a:xfrm>
            <a:off x="8243460" y="5489894"/>
            <a:ext cx="1298318" cy="1328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Make your hamster feel at home | Wood Green - The Animals Charity">
            <a:extLst>
              <a:ext uri="{FF2B5EF4-FFF2-40B4-BE49-F238E27FC236}">
                <a16:creationId xmlns:a16="http://schemas.microsoft.com/office/drawing/2014/main" id="{F7D4BCAA-21F6-48CF-AF4F-CA5B8BDBBD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27" r="15727"/>
          <a:stretch/>
        </p:blipFill>
        <p:spPr bwMode="auto">
          <a:xfrm>
            <a:off x="6520884" y="5245884"/>
            <a:ext cx="1674679" cy="1288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40F3E047-AEEB-4877-96D4-69ED45B307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98"/>
          <a:stretch/>
        </p:blipFill>
        <p:spPr bwMode="auto">
          <a:xfrm>
            <a:off x="6533411" y="3845443"/>
            <a:ext cx="1587088" cy="1364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Thinking of getting a cat? | International Cat Care">
            <a:extLst>
              <a:ext uri="{FF2B5EF4-FFF2-40B4-BE49-F238E27FC236}">
                <a16:creationId xmlns:a16="http://schemas.microsoft.com/office/drawing/2014/main" id="{647FAEFB-6B32-450A-906D-6E1A0ACF39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9" r="17679"/>
          <a:stretch/>
        </p:blipFill>
        <p:spPr bwMode="auto">
          <a:xfrm>
            <a:off x="8191364" y="4204352"/>
            <a:ext cx="1783723" cy="125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Can Parrots Really Talk? | Wonderopolis">
            <a:extLst>
              <a:ext uri="{FF2B5EF4-FFF2-40B4-BE49-F238E27FC236}">
                <a16:creationId xmlns:a16="http://schemas.microsoft.com/office/drawing/2014/main" id="{BD511EA5-2FF7-441D-A9B0-42F7C5D754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3" r="8803"/>
          <a:stretch/>
        </p:blipFill>
        <p:spPr bwMode="auto">
          <a:xfrm>
            <a:off x="596318" y="4863109"/>
            <a:ext cx="1805785" cy="1365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3A0306-C22B-40B6-B1D4-1DEAC75A0295}"/>
              </a:ext>
            </a:extLst>
          </p:cNvPr>
          <p:cNvSpPr txBox="1"/>
          <p:nvPr/>
        </p:nvSpPr>
        <p:spPr>
          <a:xfrm>
            <a:off x="4226181" y="1612116"/>
            <a:ext cx="3587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Does it have a bright color?</a:t>
            </a:r>
            <a:endParaRPr lang="en-GB" sz="2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1BD53A7-7B17-4786-8035-404E65E504A3}"/>
              </a:ext>
            </a:extLst>
          </p:cNvPr>
          <p:cNvCxnSpPr/>
          <p:nvPr/>
        </p:nvCxnSpPr>
        <p:spPr>
          <a:xfrm flipH="1">
            <a:off x="5013297" y="21190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D2AF10F-A5DB-4F73-8564-240A1E2B87F2}"/>
              </a:ext>
            </a:extLst>
          </p:cNvPr>
          <p:cNvCxnSpPr>
            <a:cxnSpLocks/>
          </p:cNvCxnSpPr>
          <p:nvPr/>
        </p:nvCxnSpPr>
        <p:spPr>
          <a:xfrm>
            <a:off x="6345161" y="21190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0C2AA36-FB3D-431B-AB84-07559C71D149}"/>
              </a:ext>
            </a:extLst>
          </p:cNvPr>
          <p:cNvSpPr txBox="1"/>
          <p:nvPr/>
        </p:nvSpPr>
        <p:spPr>
          <a:xfrm>
            <a:off x="5108228" y="2514493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0C014A-A8AB-46B7-84A5-75A51B56FA2A}"/>
              </a:ext>
            </a:extLst>
          </p:cNvPr>
          <p:cNvSpPr txBox="1"/>
          <p:nvPr/>
        </p:nvSpPr>
        <p:spPr>
          <a:xfrm>
            <a:off x="6051491" y="2514493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0DDA4D-02D6-48CD-AD40-B8018EA6E6E3}"/>
              </a:ext>
            </a:extLst>
          </p:cNvPr>
          <p:cNvSpPr txBox="1"/>
          <p:nvPr/>
        </p:nvSpPr>
        <p:spPr>
          <a:xfrm>
            <a:off x="1574045" y="2436480"/>
            <a:ext cx="2984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Is it heavier than 1 kg?</a:t>
            </a:r>
            <a:endParaRPr lang="en-GB" sz="24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2B3A030-9BDD-4254-8D1B-1AD388D57E3F}"/>
              </a:ext>
            </a:extLst>
          </p:cNvPr>
          <p:cNvCxnSpPr/>
          <p:nvPr/>
        </p:nvCxnSpPr>
        <p:spPr>
          <a:xfrm flipH="1">
            <a:off x="2070938" y="2925260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2DABBA-4892-421A-B7F4-EE139939F260}"/>
              </a:ext>
            </a:extLst>
          </p:cNvPr>
          <p:cNvCxnSpPr>
            <a:cxnSpLocks/>
          </p:cNvCxnSpPr>
          <p:nvPr/>
        </p:nvCxnSpPr>
        <p:spPr>
          <a:xfrm>
            <a:off x="3402802" y="2925260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242139C-3623-4694-AC4E-F51702D4D5B9}"/>
              </a:ext>
            </a:extLst>
          </p:cNvPr>
          <p:cNvSpPr txBox="1"/>
          <p:nvPr/>
        </p:nvSpPr>
        <p:spPr>
          <a:xfrm>
            <a:off x="2165869" y="3320730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pic>
        <p:nvPicPr>
          <p:cNvPr id="4" name="Picture 4" descr="Peach &amp; Nectarine – BeFresh">
            <a:extLst>
              <a:ext uri="{FF2B5EF4-FFF2-40B4-BE49-F238E27FC236}">
                <a16:creationId xmlns:a16="http://schemas.microsoft.com/office/drawing/2014/main" id="{117DB9CD-F4BF-4659-B495-F642F207AD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96" b="16296"/>
          <a:stretch/>
        </p:blipFill>
        <p:spPr bwMode="auto">
          <a:xfrm>
            <a:off x="4589984" y="3881843"/>
            <a:ext cx="1506016" cy="1095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Building A Better Banana | Science | Smithsonian Magazine">
            <a:extLst>
              <a:ext uri="{FF2B5EF4-FFF2-40B4-BE49-F238E27FC236}">
                <a16:creationId xmlns:a16="http://schemas.microsoft.com/office/drawing/2014/main" id="{44DB3A9B-A764-42C2-9E70-6D136F4885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9" t="5826" r="2919" b="7135"/>
          <a:stretch/>
        </p:blipFill>
        <p:spPr bwMode="auto">
          <a:xfrm>
            <a:off x="3038016" y="3496660"/>
            <a:ext cx="1700397" cy="1177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What has more vitamin C than oranges? | Jupiter Marketing Ltd">
            <a:extLst>
              <a:ext uri="{FF2B5EF4-FFF2-40B4-BE49-F238E27FC236}">
                <a16:creationId xmlns:a16="http://schemas.microsoft.com/office/drawing/2014/main" id="{F3A5C20B-05A5-4C3B-A70D-FA5859F2A5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2" b="8243"/>
          <a:stretch/>
        </p:blipFill>
        <p:spPr bwMode="auto">
          <a:xfrm>
            <a:off x="4429824" y="5017575"/>
            <a:ext cx="1889493" cy="1136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Why Nobody Can Copy Apple | cek.log">
            <a:extLst>
              <a:ext uri="{FF2B5EF4-FFF2-40B4-BE49-F238E27FC236}">
                <a16:creationId xmlns:a16="http://schemas.microsoft.com/office/drawing/2014/main" id="{FC085770-20F5-45F4-853F-56F71E9295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7" r="7257"/>
          <a:stretch/>
        </p:blipFill>
        <p:spPr bwMode="auto">
          <a:xfrm>
            <a:off x="3129073" y="4541250"/>
            <a:ext cx="1300751" cy="1533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4ECFB5F-DB75-4668-9CCB-05A7473F62FB}"/>
              </a:ext>
            </a:extLst>
          </p:cNvPr>
          <p:cNvSpPr txBox="1"/>
          <p:nvPr/>
        </p:nvSpPr>
        <p:spPr>
          <a:xfrm>
            <a:off x="3109132" y="3320730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pic>
        <p:nvPicPr>
          <p:cNvPr id="9" name="Picture 22" descr="Lychee, Longan and Rambutan: Why You Need to Be Eating These Cool, Juicy,  Exotic Asian Fruits This Summer - One Green Planet">
            <a:extLst>
              <a:ext uri="{FF2B5EF4-FFF2-40B4-BE49-F238E27FC236}">
                <a16:creationId xmlns:a16="http://schemas.microsoft.com/office/drawing/2014/main" id="{70EBA5C1-1ADD-442A-9B4F-F2C0A6FB5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596"/>
          <a:stretch/>
        </p:blipFill>
        <p:spPr bwMode="auto">
          <a:xfrm>
            <a:off x="9953577" y="2594973"/>
            <a:ext cx="1568508" cy="1331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3CEC964-5E21-4947-8BB6-07CA83E9839D}"/>
              </a:ext>
            </a:extLst>
          </p:cNvPr>
          <p:cNvSpPr txBox="1"/>
          <p:nvPr/>
        </p:nvSpPr>
        <p:spPr>
          <a:xfrm>
            <a:off x="6952756" y="2436480"/>
            <a:ext cx="3000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Is it heavier than 20 g?</a:t>
            </a:r>
            <a:endParaRPr lang="en-GB" sz="24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872E2ED-8DA3-4B31-B28A-6F5DE66F8D97}"/>
              </a:ext>
            </a:extLst>
          </p:cNvPr>
          <p:cNvCxnSpPr/>
          <p:nvPr/>
        </p:nvCxnSpPr>
        <p:spPr>
          <a:xfrm flipH="1">
            <a:off x="7847662" y="2925260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DBF531E-CB4F-415B-8D1C-94F2744223CD}"/>
              </a:ext>
            </a:extLst>
          </p:cNvPr>
          <p:cNvCxnSpPr>
            <a:cxnSpLocks/>
          </p:cNvCxnSpPr>
          <p:nvPr/>
        </p:nvCxnSpPr>
        <p:spPr>
          <a:xfrm>
            <a:off x="9179526" y="2925260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9CB59FE-DD24-4ABF-8EBC-0067EC49ED83}"/>
              </a:ext>
            </a:extLst>
          </p:cNvPr>
          <p:cNvSpPr txBox="1"/>
          <p:nvPr/>
        </p:nvSpPr>
        <p:spPr>
          <a:xfrm>
            <a:off x="7942593" y="3320730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9CC8266-5D1E-4929-9EB4-C747011B258C}"/>
              </a:ext>
            </a:extLst>
          </p:cNvPr>
          <p:cNvSpPr txBox="1"/>
          <p:nvPr/>
        </p:nvSpPr>
        <p:spPr>
          <a:xfrm>
            <a:off x="8885856" y="3320730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746798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40F72-E887-4CBC-823B-C6BAB32BB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  <a:endParaRPr lang="en-GB" dirty="0"/>
          </a:p>
        </p:txBody>
      </p:sp>
      <p:pic>
        <p:nvPicPr>
          <p:cNvPr id="1034" name="Picture 10" descr="Watermelon driving Korean-grown trend">
            <a:extLst>
              <a:ext uri="{FF2B5EF4-FFF2-40B4-BE49-F238E27FC236}">
                <a16:creationId xmlns:a16="http://schemas.microsoft.com/office/drawing/2014/main" id="{5CB20D0F-A43F-4BF3-9BB4-4B3F021740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7" t="10874" r="14983" b="5878"/>
          <a:stretch/>
        </p:blipFill>
        <p:spPr bwMode="auto">
          <a:xfrm>
            <a:off x="55547" y="4880127"/>
            <a:ext cx="1388516" cy="1162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FDA investigates possible link between dog foods and heart disease">
            <a:extLst>
              <a:ext uri="{FF2B5EF4-FFF2-40B4-BE49-F238E27FC236}">
                <a16:creationId xmlns:a16="http://schemas.microsoft.com/office/drawing/2014/main" id="{A1A5258D-CD06-4477-A570-96AE793DC6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3" r="22633"/>
          <a:stretch/>
        </p:blipFill>
        <p:spPr bwMode="auto">
          <a:xfrm>
            <a:off x="8243460" y="5489894"/>
            <a:ext cx="1298318" cy="1328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Make your hamster feel at home | Wood Green - The Animals Charity">
            <a:extLst>
              <a:ext uri="{FF2B5EF4-FFF2-40B4-BE49-F238E27FC236}">
                <a16:creationId xmlns:a16="http://schemas.microsoft.com/office/drawing/2014/main" id="{F7D4BCAA-21F6-48CF-AF4F-CA5B8BDBBD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27" r="15727"/>
          <a:stretch/>
        </p:blipFill>
        <p:spPr bwMode="auto">
          <a:xfrm>
            <a:off x="6520884" y="5245884"/>
            <a:ext cx="1674679" cy="1288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40F3E047-AEEB-4877-96D4-69ED45B307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98"/>
          <a:stretch/>
        </p:blipFill>
        <p:spPr bwMode="auto">
          <a:xfrm>
            <a:off x="6533411" y="3845443"/>
            <a:ext cx="1587088" cy="1364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Thinking of getting a cat? | International Cat Care">
            <a:extLst>
              <a:ext uri="{FF2B5EF4-FFF2-40B4-BE49-F238E27FC236}">
                <a16:creationId xmlns:a16="http://schemas.microsoft.com/office/drawing/2014/main" id="{647FAEFB-6B32-450A-906D-6E1A0ACF39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9" r="17679"/>
          <a:stretch/>
        </p:blipFill>
        <p:spPr bwMode="auto">
          <a:xfrm>
            <a:off x="8191364" y="4204352"/>
            <a:ext cx="1783723" cy="125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Can Parrots Really Talk? | Wonderopolis">
            <a:extLst>
              <a:ext uri="{FF2B5EF4-FFF2-40B4-BE49-F238E27FC236}">
                <a16:creationId xmlns:a16="http://schemas.microsoft.com/office/drawing/2014/main" id="{BD511EA5-2FF7-441D-A9B0-42F7C5D754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3" r="8803"/>
          <a:stretch/>
        </p:blipFill>
        <p:spPr bwMode="auto">
          <a:xfrm>
            <a:off x="1491960" y="4939856"/>
            <a:ext cx="1402180" cy="1060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3A0306-C22B-40B6-B1D4-1DEAC75A0295}"/>
              </a:ext>
            </a:extLst>
          </p:cNvPr>
          <p:cNvSpPr txBox="1"/>
          <p:nvPr/>
        </p:nvSpPr>
        <p:spPr>
          <a:xfrm>
            <a:off x="4226181" y="1612116"/>
            <a:ext cx="3587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Does it have a bright color?</a:t>
            </a:r>
            <a:endParaRPr lang="en-GB" sz="2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1BD53A7-7B17-4786-8035-404E65E504A3}"/>
              </a:ext>
            </a:extLst>
          </p:cNvPr>
          <p:cNvCxnSpPr/>
          <p:nvPr/>
        </p:nvCxnSpPr>
        <p:spPr>
          <a:xfrm flipH="1">
            <a:off x="5013297" y="21190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D2AF10F-A5DB-4F73-8564-240A1E2B87F2}"/>
              </a:ext>
            </a:extLst>
          </p:cNvPr>
          <p:cNvCxnSpPr>
            <a:cxnSpLocks/>
          </p:cNvCxnSpPr>
          <p:nvPr/>
        </p:nvCxnSpPr>
        <p:spPr>
          <a:xfrm>
            <a:off x="6345161" y="21190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0C2AA36-FB3D-431B-AB84-07559C71D149}"/>
              </a:ext>
            </a:extLst>
          </p:cNvPr>
          <p:cNvSpPr txBox="1"/>
          <p:nvPr/>
        </p:nvSpPr>
        <p:spPr>
          <a:xfrm>
            <a:off x="5108228" y="2514493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0C014A-A8AB-46B7-84A5-75A51B56FA2A}"/>
              </a:ext>
            </a:extLst>
          </p:cNvPr>
          <p:cNvSpPr txBox="1"/>
          <p:nvPr/>
        </p:nvSpPr>
        <p:spPr>
          <a:xfrm>
            <a:off x="6051491" y="2514493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0DDA4D-02D6-48CD-AD40-B8018EA6E6E3}"/>
              </a:ext>
            </a:extLst>
          </p:cNvPr>
          <p:cNvSpPr txBox="1"/>
          <p:nvPr/>
        </p:nvSpPr>
        <p:spPr>
          <a:xfrm>
            <a:off x="1574045" y="2436480"/>
            <a:ext cx="2984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Is it heavier than 1 kg?</a:t>
            </a:r>
            <a:endParaRPr lang="en-GB" sz="24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2B3A030-9BDD-4254-8D1B-1AD388D57E3F}"/>
              </a:ext>
            </a:extLst>
          </p:cNvPr>
          <p:cNvCxnSpPr/>
          <p:nvPr/>
        </p:nvCxnSpPr>
        <p:spPr>
          <a:xfrm flipH="1">
            <a:off x="2070938" y="2925260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2DABBA-4892-421A-B7F4-EE139939F260}"/>
              </a:ext>
            </a:extLst>
          </p:cNvPr>
          <p:cNvCxnSpPr>
            <a:cxnSpLocks/>
          </p:cNvCxnSpPr>
          <p:nvPr/>
        </p:nvCxnSpPr>
        <p:spPr>
          <a:xfrm>
            <a:off x="3402802" y="2925260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242139C-3623-4694-AC4E-F51702D4D5B9}"/>
              </a:ext>
            </a:extLst>
          </p:cNvPr>
          <p:cNvSpPr txBox="1"/>
          <p:nvPr/>
        </p:nvSpPr>
        <p:spPr>
          <a:xfrm>
            <a:off x="2165869" y="3320730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pic>
        <p:nvPicPr>
          <p:cNvPr id="4" name="Picture 4" descr="Peach &amp; Nectarine – BeFresh">
            <a:extLst>
              <a:ext uri="{FF2B5EF4-FFF2-40B4-BE49-F238E27FC236}">
                <a16:creationId xmlns:a16="http://schemas.microsoft.com/office/drawing/2014/main" id="{117DB9CD-F4BF-4659-B495-F642F207AD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96" b="16296"/>
          <a:stretch/>
        </p:blipFill>
        <p:spPr bwMode="auto">
          <a:xfrm>
            <a:off x="4589984" y="3881843"/>
            <a:ext cx="1506016" cy="1095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Building A Better Banana | Science | Smithsonian Magazine">
            <a:extLst>
              <a:ext uri="{FF2B5EF4-FFF2-40B4-BE49-F238E27FC236}">
                <a16:creationId xmlns:a16="http://schemas.microsoft.com/office/drawing/2014/main" id="{44DB3A9B-A764-42C2-9E70-6D136F4885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9" t="5826" r="2919" b="7135"/>
          <a:stretch/>
        </p:blipFill>
        <p:spPr bwMode="auto">
          <a:xfrm>
            <a:off x="3038016" y="3496660"/>
            <a:ext cx="1700397" cy="1177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What has more vitamin C than oranges? | Jupiter Marketing Ltd">
            <a:extLst>
              <a:ext uri="{FF2B5EF4-FFF2-40B4-BE49-F238E27FC236}">
                <a16:creationId xmlns:a16="http://schemas.microsoft.com/office/drawing/2014/main" id="{F3A5C20B-05A5-4C3B-A70D-FA5859F2A5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2" b="8243"/>
          <a:stretch/>
        </p:blipFill>
        <p:spPr bwMode="auto">
          <a:xfrm>
            <a:off x="4429824" y="5017575"/>
            <a:ext cx="1889493" cy="1136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Why Nobody Can Copy Apple | cek.log">
            <a:extLst>
              <a:ext uri="{FF2B5EF4-FFF2-40B4-BE49-F238E27FC236}">
                <a16:creationId xmlns:a16="http://schemas.microsoft.com/office/drawing/2014/main" id="{FC085770-20F5-45F4-853F-56F71E9295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7" r="7257"/>
          <a:stretch/>
        </p:blipFill>
        <p:spPr bwMode="auto">
          <a:xfrm>
            <a:off x="3129073" y="4541250"/>
            <a:ext cx="1300751" cy="1533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4ECFB5F-DB75-4668-9CCB-05A7473F62FB}"/>
              </a:ext>
            </a:extLst>
          </p:cNvPr>
          <p:cNvSpPr txBox="1"/>
          <p:nvPr/>
        </p:nvSpPr>
        <p:spPr>
          <a:xfrm>
            <a:off x="3109132" y="3320730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pic>
        <p:nvPicPr>
          <p:cNvPr id="9" name="Picture 22" descr="Lychee, Longan and Rambutan: Why You Need to Be Eating These Cool, Juicy,  Exotic Asian Fruits This Summer - One Green Planet">
            <a:extLst>
              <a:ext uri="{FF2B5EF4-FFF2-40B4-BE49-F238E27FC236}">
                <a16:creationId xmlns:a16="http://schemas.microsoft.com/office/drawing/2014/main" id="{70EBA5C1-1ADD-442A-9B4F-F2C0A6FB5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596"/>
          <a:stretch/>
        </p:blipFill>
        <p:spPr bwMode="auto">
          <a:xfrm>
            <a:off x="9953577" y="2594973"/>
            <a:ext cx="1568508" cy="1331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3CEC964-5E21-4947-8BB6-07CA83E9839D}"/>
              </a:ext>
            </a:extLst>
          </p:cNvPr>
          <p:cNvSpPr txBox="1"/>
          <p:nvPr/>
        </p:nvSpPr>
        <p:spPr>
          <a:xfrm>
            <a:off x="6952756" y="2436480"/>
            <a:ext cx="3000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Is it heavier than 20 g?</a:t>
            </a:r>
            <a:endParaRPr lang="en-GB" sz="24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872E2ED-8DA3-4B31-B28A-6F5DE66F8D97}"/>
              </a:ext>
            </a:extLst>
          </p:cNvPr>
          <p:cNvCxnSpPr/>
          <p:nvPr/>
        </p:nvCxnSpPr>
        <p:spPr>
          <a:xfrm flipH="1">
            <a:off x="7847662" y="2925260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DBF531E-CB4F-415B-8D1C-94F2744223CD}"/>
              </a:ext>
            </a:extLst>
          </p:cNvPr>
          <p:cNvCxnSpPr>
            <a:cxnSpLocks/>
          </p:cNvCxnSpPr>
          <p:nvPr/>
        </p:nvCxnSpPr>
        <p:spPr>
          <a:xfrm>
            <a:off x="9179526" y="2925260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9CB59FE-DD24-4ABF-8EBC-0067EC49ED83}"/>
              </a:ext>
            </a:extLst>
          </p:cNvPr>
          <p:cNvSpPr txBox="1"/>
          <p:nvPr/>
        </p:nvSpPr>
        <p:spPr>
          <a:xfrm>
            <a:off x="7942593" y="3320730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9CC8266-5D1E-4929-9EB4-C747011B258C}"/>
              </a:ext>
            </a:extLst>
          </p:cNvPr>
          <p:cNvSpPr txBox="1"/>
          <p:nvPr/>
        </p:nvSpPr>
        <p:spPr>
          <a:xfrm>
            <a:off x="8885856" y="3320730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304C2B6-ED8E-4D0E-BC4A-990B0AB3020A}"/>
              </a:ext>
            </a:extLst>
          </p:cNvPr>
          <p:cNvSpPr/>
          <p:nvPr/>
        </p:nvSpPr>
        <p:spPr>
          <a:xfrm>
            <a:off x="9582749" y="347203"/>
            <a:ext cx="2126974" cy="202615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87B388-2A93-4E64-A035-EBA8E1E158E8}"/>
              </a:ext>
            </a:extLst>
          </p:cNvPr>
          <p:cNvSpPr txBox="1"/>
          <p:nvPr/>
        </p:nvSpPr>
        <p:spPr>
          <a:xfrm>
            <a:off x="10139894" y="409070"/>
            <a:ext cx="889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set</a:t>
            </a:r>
            <a:endParaRPr lang="en-GB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FD11CD6-BED4-4A2C-9086-E9281A3B0BBB}"/>
              </a:ext>
            </a:extLst>
          </p:cNvPr>
          <p:cNvSpPr txBox="1"/>
          <p:nvPr/>
        </p:nvSpPr>
        <p:spPr>
          <a:xfrm>
            <a:off x="666513" y="3526396"/>
            <a:ext cx="1585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Is it round?</a:t>
            </a:r>
            <a:endParaRPr lang="en-GB" sz="2400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E993F2C-04FB-4B17-B0B4-4CD045E31C7B}"/>
              </a:ext>
            </a:extLst>
          </p:cNvPr>
          <p:cNvCxnSpPr/>
          <p:nvPr/>
        </p:nvCxnSpPr>
        <p:spPr>
          <a:xfrm flipH="1">
            <a:off x="582961" y="403330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3FB9454-6945-41AE-8F3E-8603F97C3AD8}"/>
              </a:ext>
            </a:extLst>
          </p:cNvPr>
          <p:cNvCxnSpPr>
            <a:cxnSpLocks/>
          </p:cNvCxnSpPr>
          <p:nvPr/>
        </p:nvCxnSpPr>
        <p:spPr>
          <a:xfrm>
            <a:off x="1914825" y="403330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2B241F0C-029F-4FE9-8D36-328EA61C1A11}"/>
              </a:ext>
            </a:extLst>
          </p:cNvPr>
          <p:cNvSpPr txBox="1"/>
          <p:nvPr/>
        </p:nvSpPr>
        <p:spPr>
          <a:xfrm>
            <a:off x="677892" y="4428773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E33B4AF-CF74-43C1-B539-20912B3BEF20}"/>
              </a:ext>
            </a:extLst>
          </p:cNvPr>
          <p:cNvSpPr txBox="1"/>
          <p:nvPr/>
        </p:nvSpPr>
        <p:spPr>
          <a:xfrm>
            <a:off x="1621155" y="4428773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pic>
        <p:nvPicPr>
          <p:cNvPr id="42" name="Picture 4" descr="Italy's pear industry seeks new strategy">
            <a:extLst>
              <a:ext uri="{FF2B5EF4-FFF2-40B4-BE49-F238E27FC236}">
                <a16:creationId xmlns:a16="http://schemas.microsoft.com/office/drawing/2014/main" id="{800907B2-AA51-486C-A1F9-6596F79435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16" r="15568"/>
          <a:stretch/>
        </p:blipFill>
        <p:spPr bwMode="auto">
          <a:xfrm>
            <a:off x="9699444" y="747318"/>
            <a:ext cx="1832318" cy="1578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Italy's pear industry seeks new strategy">
            <a:extLst>
              <a:ext uri="{FF2B5EF4-FFF2-40B4-BE49-F238E27FC236}">
                <a16:creationId xmlns:a16="http://schemas.microsoft.com/office/drawing/2014/main" id="{2E0B139E-7C9D-47F4-8B86-7E4A49DB32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16" r="15568"/>
          <a:stretch/>
        </p:blipFill>
        <p:spPr bwMode="auto">
          <a:xfrm>
            <a:off x="9699444" y="732636"/>
            <a:ext cx="1832318" cy="1578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881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7.40741E-7 L -0.37994 -0.08657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997" y="-4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7994 -0.08657 L -0.6289 0.04282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448" y="64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289 0.04282 L -0.50234 0.4757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28" y="2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E1368-D3A1-4D9D-B35D-668DF18DB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7CC2AF-9E40-4B00-82ED-A4087F44BE01}"/>
              </a:ext>
            </a:extLst>
          </p:cNvPr>
          <p:cNvSpPr txBox="1"/>
          <p:nvPr/>
        </p:nvSpPr>
        <p:spPr>
          <a:xfrm>
            <a:off x="1781450" y="1589613"/>
            <a:ext cx="737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Fur?</a:t>
            </a:r>
            <a:endParaRPr lang="en-GB" sz="24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87B6045-E282-45C3-A4E8-9ACA5B199B29}"/>
              </a:ext>
            </a:extLst>
          </p:cNvPr>
          <p:cNvCxnSpPr/>
          <p:nvPr/>
        </p:nvCxnSpPr>
        <p:spPr>
          <a:xfrm flipH="1">
            <a:off x="1490520" y="2122861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06C6667-3FD7-404C-AF12-5D1CA88A3A1F}"/>
              </a:ext>
            </a:extLst>
          </p:cNvPr>
          <p:cNvCxnSpPr>
            <a:cxnSpLocks/>
          </p:cNvCxnSpPr>
          <p:nvPr/>
        </p:nvCxnSpPr>
        <p:spPr>
          <a:xfrm>
            <a:off x="2205796" y="2101348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3CCF8E-C517-49D4-AC95-AA406DF812BF}"/>
              </a:ext>
            </a:extLst>
          </p:cNvPr>
          <p:cNvSpPr txBox="1"/>
          <p:nvPr/>
        </p:nvSpPr>
        <p:spPr>
          <a:xfrm>
            <a:off x="1194110" y="2033883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F7C9AB-0F69-4E94-ABB6-C250652055A1}"/>
              </a:ext>
            </a:extLst>
          </p:cNvPr>
          <p:cNvSpPr txBox="1"/>
          <p:nvPr/>
        </p:nvSpPr>
        <p:spPr>
          <a:xfrm>
            <a:off x="2454768" y="2033882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F84DAF-E000-4A21-9374-183CBE163636}"/>
              </a:ext>
            </a:extLst>
          </p:cNvPr>
          <p:cNvSpPr txBox="1"/>
          <p:nvPr/>
        </p:nvSpPr>
        <p:spPr>
          <a:xfrm>
            <a:off x="796461" y="2670975"/>
            <a:ext cx="9763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Bright color?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57C5CF-6A2F-443B-8385-E95C0963B566}"/>
              </a:ext>
            </a:extLst>
          </p:cNvPr>
          <p:cNvSpPr txBox="1"/>
          <p:nvPr/>
        </p:nvSpPr>
        <p:spPr>
          <a:xfrm>
            <a:off x="2331143" y="2823960"/>
            <a:ext cx="1135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Round?</a:t>
            </a:r>
            <a:endParaRPr lang="en-GB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77B0C8-734D-4CC0-A04D-6A61B9663D1A}"/>
              </a:ext>
            </a:extLst>
          </p:cNvPr>
          <p:cNvSpPr txBox="1"/>
          <p:nvPr/>
        </p:nvSpPr>
        <p:spPr>
          <a:xfrm>
            <a:off x="3054633" y="4087523"/>
            <a:ext cx="989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&gt;1 kg?</a:t>
            </a:r>
            <a:endParaRPr lang="en-GB" sz="24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728FB7B-5F9D-4A28-A119-6ABC83BDEDA0}"/>
              </a:ext>
            </a:extLst>
          </p:cNvPr>
          <p:cNvCxnSpPr/>
          <p:nvPr/>
        </p:nvCxnSpPr>
        <p:spPr>
          <a:xfrm flipH="1">
            <a:off x="510174" y="3583148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A7C753B-03D3-4911-8F36-EB8A1CD6BBE3}"/>
              </a:ext>
            </a:extLst>
          </p:cNvPr>
          <p:cNvCxnSpPr>
            <a:cxnSpLocks/>
          </p:cNvCxnSpPr>
          <p:nvPr/>
        </p:nvCxnSpPr>
        <p:spPr>
          <a:xfrm>
            <a:off x="1225450" y="3561635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AFED586-FA79-4A1A-96C3-07FBBB5DE2A2}"/>
              </a:ext>
            </a:extLst>
          </p:cNvPr>
          <p:cNvSpPr txBox="1"/>
          <p:nvPr/>
        </p:nvSpPr>
        <p:spPr>
          <a:xfrm>
            <a:off x="213764" y="3494170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B215B6-9342-41D7-95BF-2394D8478012}"/>
              </a:ext>
            </a:extLst>
          </p:cNvPr>
          <p:cNvSpPr txBox="1"/>
          <p:nvPr/>
        </p:nvSpPr>
        <p:spPr>
          <a:xfrm>
            <a:off x="1474422" y="3494169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E7CAED-434A-4A09-B2C9-2DB53408291B}"/>
              </a:ext>
            </a:extLst>
          </p:cNvPr>
          <p:cNvSpPr txBox="1"/>
          <p:nvPr/>
        </p:nvSpPr>
        <p:spPr>
          <a:xfrm rot="5400000">
            <a:off x="136008" y="4318356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Fruit</a:t>
            </a:r>
            <a:endParaRPr lang="en-GB" sz="2400" b="1" dirty="0">
              <a:solidFill>
                <a:schemeClr val="accent6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76FEDD-716A-475F-A56C-2390FA86559E}"/>
              </a:ext>
            </a:extLst>
          </p:cNvPr>
          <p:cNvSpPr txBox="1"/>
          <p:nvPr/>
        </p:nvSpPr>
        <p:spPr>
          <a:xfrm rot="5400000">
            <a:off x="1051287" y="4472232"/>
            <a:ext cx="1088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Animal</a:t>
            </a:r>
            <a:endParaRPr lang="en-GB" sz="2400" b="1" dirty="0">
              <a:solidFill>
                <a:schemeClr val="accent2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ADED2F7-9674-4046-8173-A27C9C24580F}"/>
              </a:ext>
            </a:extLst>
          </p:cNvPr>
          <p:cNvCxnSpPr/>
          <p:nvPr/>
        </p:nvCxnSpPr>
        <p:spPr>
          <a:xfrm flipH="1">
            <a:off x="2333884" y="3583148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F0CA5EE-7030-4165-BE39-C26F3FEBACF4}"/>
              </a:ext>
            </a:extLst>
          </p:cNvPr>
          <p:cNvCxnSpPr>
            <a:cxnSpLocks/>
          </p:cNvCxnSpPr>
          <p:nvPr/>
        </p:nvCxnSpPr>
        <p:spPr>
          <a:xfrm>
            <a:off x="3049160" y="3561635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A11D224-9587-4481-A8AD-0DE84E59A0E7}"/>
              </a:ext>
            </a:extLst>
          </p:cNvPr>
          <p:cNvSpPr txBox="1"/>
          <p:nvPr/>
        </p:nvSpPr>
        <p:spPr>
          <a:xfrm>
            <a:off x="2037474" y="3494170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499E48-1612-488C-97DA-F56A75344FE7}"/>
              </a:ext>
            </a:extLst>
          </p:cNvPr>
          <p:cNvSpPr txBox="1"/>
          <p:nvPr/>
        </p:nvSpPr>
        <p:spPr>
          <a:xfrm>
            <a:off x="3298132" y="3494169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2DE072-DED4-4592-9F41-38F9BC0BDA6A}"/>
              </a:ext>
            </a:extLst>
          </p:cNvPr>
          <p:cNvSpPr txBox="1"/>
          <p:nvPr/>
        </p:nvSpPr>
        <p:spPr>
          <a:xfrm rot="5400000">
            <a:off x="1939850" y="4318356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Fruit</a:t>
            </a:r>
            <a:endParaRPr lang="en-GB" sz="2400" b="1" dirty="0">
              <a:solidFill>
                <a:schemeClr val="accent6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2AD8833-4EBB-464E-A0A7-B1B543914C5A}"/>
              </a:ext>
            </a:extLst>
          </p:cNvPr>
          <p:cNvCxnSpPr/>
          <p:nvPr/>
        </p:nvCxnSpPr>
        <p:spPr>
          <a:xfrm flipH="1">
            <a:off x="2995574" y="4618436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311DF22-3482-4DC2-B3E9-2023BDDBC75B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3710850" y="4596923"/>
            <a:ext cx="196081" cy="62807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4AF0BBC-7EDE-4078-A09A-1197E0AE2E43}"/>
              </a:ext>
            </a:extLst>
          </p:cNvPr>
          <p:cNvSpPr txBox="1"/>
          <p:nvPr/>
        </p:nvSpPr>
        <p:spPr>
          <a:xfrm>
            <a:off x="2699164" y="4529458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20F192-6E54-4238-AD99-C18813B6A90E}"/>
              </a:ext>
            </a:extLst>
          </p:cNvPr>
          <p:cNvSpPr txBox="1"/>
          <p:nvPr/>
        </p:nvSpPr>
        <p:spPr>
          <a:xfrm>
            <a:off x="3769288" y="4563290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5AE5A2-7C36-42CB-A574-CDF160083728}"/>
              </a:ext>
            </a:extLst>
          </p:cNvPr>
          <p:cNvSpPr txBox="1"/>
          <p:nvPr/>
        </p:nvSpPr>
        <p:spPr>
          <a:xfrm rot="5400000">
            <a:off x="2504780" y="5501146"/>
            <a:ext cx="1088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Animal</a:t>
            </a:r>
            <a:endParaRPr lang="en-GB" sz="2400" b="1" dirty="0">
              <a:solidFill>
                <a:schemeClr val="accent2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C237DE-BF83-4B50-B198-A30974653A8B}"/>
              </a:ext>
            </a:extLst>
          </p:cNvPr>
          <p:cNvSpPr txBox="1"/>
          <p:nvPr/>
        </p:nvSpPr>
        <p:spPr>
          <a:xfrm rot="5400000">
            <a:off x="3515638" y="5385463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Fruit</a:t>
            </a:r>
            <a:endParaRPr lang="en-GB" sz="2400" b="1" dirty="0">
              <a:solidFill>
                <a:schemeClr val="accent6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EA81B73-1C99-4B09-83FE-301B7A16B59E}"/>
              </a:ext>
            </a:extLst>
          </p:cNvPr>
          <p:cNvSpPr txBox="1"/>
          <p:nvPr/>
        </p:nvSpPr>
        <p:spPr>
          <a:xfrm>
            <a:off x="5578092" y="1589613"/>
            <a:ext cx="1135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Round?</a:t>
            </a:r>
            <a:endParaRPr lang="en-GB" sz="2400" dirty="0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6F2C56B-5BCE-4688-AA5E-1C239BE24043}"/>
              </a:ext>
            </a:extLst>
          </p:cNvPr>
          <p:cNvCxnSpPr/>
          <p:nvPr/>
        </p:nvCxnSpPr>
        <p:spPr>
          <a:xfrm flipH="1">
            <a:off x="5569194" y="2122861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2D379D6-5995-4295-A14A-C426EA599CBA}"/>
              </a:ext>
            </a:extLst>
          </p:cNvPr>
          <p:cNvCxnSpPr>
            <a:cxnSpLocks/>
          </p:cNvCxnSpPr>
          <p:nvPr/>
        </p:nvCxnSpPr>
        <p:spPr>
          <a:xfrm>
            <a:off x="6284470" y="2101348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88F550BA-2B73-44BD-87F5-48C8822F4E00}"/>
              </a:ext>
            </a:extLst>
          </p:cNvPr>
          <p:cNvSpPr txBox="1"/>
          <p:nvPr/>
        </p:nvSpPr>
        <p:spPr>
          <a:xfrm>
            <a:off x="5272784" y="2033883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C46507C-5A5C-4C75-AC26-39AF304F8BFD}"/>
              </a:ext>
            </a:extLst>
          </p:cNvPr>
          <p:cNvSpPr txBox="1"/>
          <p:nvPr/>
        </p:nvSpPr>
        <p:spPr>
          <a:xfrm>
            <a:off x="6533442" y="2033882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D17860B-74DD-4DD2-88F5-CD6BE31B6805}"/>
              </a:ext>
            </a:extLst>
          </p:cNvPr>
          <p:cNvSpPr txBox="1"/>
          <p:nvPr/>
        </p:nvSpPr>
        <p:spPr>
          <a:xfrm>
            <a:off x="4875135" y="2670975"/>
            <a:ext cx="9763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Bright color?</a:t>
            </a:r>
            <a:endParaRPr lang="en-GB" sz="24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B8D3642-2F0B-411F-BB14-6D3DE46AB437}"/>
              </a:ext>
            </a:extLst>
          </p:cNvPr>
          <p:cNvSpPr txBox="1"/>
          <p:nvPr/>
        </p:nvSpPr>
        <p:spPr>
          <a:xfrm>
            <a:off x="6409817" y="2823960"/>
            <a:ext cx="989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&gt;1 kg?</a:t>
            </a:r>
            <a:endParaRPr lang="en-GB" sz="2400" dirty="0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17F5B47E-67E5-435F-A5C6-8B21D1028AB9}"/>
              </a:ext>
            </a:extLst>
          </p:cNvPr>
          <p:cNvCxnSpPr/>
          <p:nvPr/>
        </p:nvCxnSpPr>
        <p:spPr>
          <a:xfrm flipH="1">
            <a:off x="4588848" y="3583148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7A0CF5A-C39B-4E58-ACDD-3E34AC4E552A}"/>
              </a:ext>
            </a:extLst>
          </p:cNvPr>
          <p:cNvCxnSpPr>
            <a:cxnSpLocks/>
          </p:cNvCxnSpPr>
          <p:nvPr/>
        </p:nvCxnSpPr>
        <p:spPr>
          <a:xfrm>
            <a:off x="5304124" y="3561635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684268CA-2EF9-4F4C-80E7-28288FBFA1B2}"/>
              </a:ext>
            </a:extLst>
          </p:cNvPr>
          <p:cNvSpPr txBox="1"/>
          <p:nvPr/>
        </p:nvSpPr>
        <p:spPr>
          <a:xfrm>
            <a:off x="4292438" y="3494170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5F199CC-4DF8-462E-9169-BA8E3555E60A}"/>
              </a:ext>
            </a:extLst>
          </p:cNvPr>
          <p:cNvSpPr txBox="1"/>
          <p:nvPr/>
        </p:nvSpPr>
        <p:spPr>
          <a:xfrm>
            <a:off x="5553096" y="3494169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B9E6B01-F630-4D7A-A090-77199FE9D49F}"/>
              </a:ext>
            </a:extLst>
          </p:cNvPr>
          <p:cNvSpPr txBox="1"/>
          <p:nvPr/>
        </p:nvSpPr>
        <p:spPr>
          <a:xfrm rot="5400000">
            <a:off x="4214682" y="4318356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Fruit</a:t>
            </a:r>
            <a:endParaRPr lang="en-GB" sz="2400" b="1" dirty="0">
              <a:solidFill>
                <a:schemeClr val="accent6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BEDD86F-BE78-47D8-8C3B-31BD3E098220}"/>
              </a:ext>
            </a:extLst>
          </p:cNvPr>
          <p:cNvSpPr txBox="1"/>
          <p:nvPr/>
        </p:nvSpPr>
        <p:spPr>
          <a:xfrm rot="5400000">
            <a:off x="4644059" y="5455423"/>
            <a:ext cx="1088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Animal</a:t>
            </a:r>
            <a:endParaRPr lang="en-GB" sz="2400" b="1" dirty="0">
              <a:solidFill>
                <a:schemeClr val="accent2"/>
              </a:solidFill>
            </a:endParaRP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18B2120-7C00-4E50-BDCF-A80F316B20BA}"/>
              </a:ext>
            </a:extLst>
          </p:cNvPr>
          <p:cNvCxnSpPr>
            <a:cxnSpLocks/>
          </p:cNvCxnSpPr>
          <p:nvPr/>
        </p:nvCxnSpPr>
        <p:spPr>
          <a:xfrm flipH="1">
            <a:off x="6740795" y="3583148"/>
            <a:ext cx="160769" cy="56519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2C94CCF-0E64-46C3-A526-4A20F98C19C8}"/>
              </a:ext>
            </a:extLst>
          </p:cNvPr>
          <p:cNvCxnSpPr>
            <a:cxnSpLocks/>
          </p:cNvCxnSpPr>
          <p:nvPr/>
        </p:nvCxnSpPr>
        <p:spPr>
          <a:xfrm>
            <a:off x="7127834" y="3561635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74DA6381-861F-482B-A3F6-7648CC5FE8C9}"/>
              </a:ext>
            </a:extLst>
          </p:cNvPr>
          <p:cNvSpPr txBox="1"/>
          <p:nvPr/>
        </p:nvSpPr>
        <p:spPr>
          <a:xfrm>
            <a:off x="6233839" y="3535055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144842A-01EA-4C44-A2C4-EB90F13BD8C0}"/>
              </a:ext>
            </a:extLst>
          </p:cNvPr>
          <p:cNvSpPr txBox="1"/>
          <p:nvPr/>
        </p:nvSpPr>
        <p:spPr>
          <a:xfrm>
            <a:off x="7376806" y="3494169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5A34569-A2F5-4F3C-B705-6434956A2FE4}"/>
              </a:ext>
            </a:extLst>
          </p:cNvPr>
          <p:cNvSpPr txBox="1"/>
          <p:nvPr/>
        </p:nvSpPr>
        <p:spPr>
          <a:xfrm rot="5400000">
            <a:off x="6253226" y="4497684"/>
            <a:ext cx="1088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Animal</a:t>
            </a:r>
            <a:endParaRPr lang="en-GB" sz="2400" b="1" dirty="0">
              <a:solidFill>
                <a:schemeClr val="accent2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63D0295-7D53-4A87-AFC4-B32378F8237B}"/>
              </a:ext>
            </a:extLst>
          </p:cNvPr>
          <p:cNvSpPr txBox="1"/>
          <p:nvPr/>
        </p:nvSpPr>
        <p:spPr>
          <a:xfrm rot="5400000">
            <a:off x="7211876" y="4387603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Fruit</a:t>
            </a:r>
            <a:endParaRPr lang="en-GB" sz="2400" b="1" dirty="0">
              <a:solidFill>
                <a:schemeClr val="accent6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B5CB901-FB51-4324-9DC2-90B79505FF79}"/>
              </a:ext>
            </a:extLst>
          </p:cNvPr>
          <p:cNvSpPr txBox="1"/>
          <p:nvPr/>
        </p:nvSpPr>
        <p:spPr>
          <a:xfrm>
            <a:off x="5195280" y="4087523"/>
            <a:ext cx="1005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&gt;20 g?</a:t>
            </a:r>
            <a:endParaRPr lang="en-GB" sz="2400" dirty="0"/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DB58BF8-8C30-44B7-8FEC-F64A325E5BF4}"/>
              </a:ext>
            </a:extLst>
          </p:cNvPr>
          <p:cNvCxnSpPr/>
          <p:nvPr/>
        </p:nvCxnSpPr>
        <p:spPr>
          <a:xfrm flipH="1">
            <a:off x="5136221" y="4618436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076C0358-093C-41F5-AE73-9B0B50FA5B69}"/>
              </a:ext>
            </a:extLst>
          </p:cNvPr>
          <p:cNvCxnSpPr>
            <a:cxnSpLocks/>
          </p:cNvCxnSpPr>
          <p:nvPr/>
        </p:nvCxnSpPr>
        <p:spPr>
          <a:xfrm>
            <a:off x="5851497" y="4596923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EC356A27-4577-4174-B263-76590D7FCDC7}"/>
              </a:ext>
            </a:extLst>
          </p:cNvPr>
          <p:cNvSpPr txBox="1"/>
          <p:nvPr/>
        </p:nvSpPr>
        <p:spPr>
          <a:xfrm>
            <a:off x="4839811" y="4529458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1641B30-833B-4EAE-BC01-EFA71743772C}"/>
              </a:ext>
            </a:extLst>
          </p:cNvPr>
          <p:cNvSpPr txBox="1"/>
          <p:nvPr/>
        </p:nvSpPr>
        <p:spPr>
          <a:xfrm>
            <a:off x="6100469" y="4529457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3FAED08-F926-48FF-B41C-A32AC113F634}"/>
              </a:ext>
            </a:extLst>
          </p:cNvPr>
          <p:cNvSpPr txBox="1"/>
          <p:nvPr/>
        </p:nvSpPr>
        <p:spPr>
          <a:xfrm rot="5400000">
            <a:off x="5892591" y="5385463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Fruit</a:t>
            </a:r>
            <a:endParaRPr lang="en-GB" sz="2400" b="1" dirty="0">
              <a:solidFill>
                <a:schemeClr val="accent6"/>
              </a:solidFill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F263AF0A-BF35-4DA2-B891-418ECBCC675A}"/>
              </a:ext>
            </a:extLst>
          </p:cNvPr>
          <p:cNvSpPr/>
          <p:nvPr/>
        </p:nvSpPr>
        <p:spPr>
          <a:xfrm>
            <a:off x="1507670" y="1487138"/>
            <a:ext cx="1249020" cy="670079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01F14FDE-6239-4F14-BA2E-6CC51C447B1B}"/>
              </a:ext>
            </a:extLst>
          </p:cNvPr>
          <p:cNvSpPr/>
          <p:nvPr/>
        </p:nvSpPr>
        <p:spPr>
          <a:xfrm>
            <a:off x="561309" y="2650612"/>
            <a:ext cx="1339179" cy="843557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7B018249-311B-4116-B459-34B7954B6F68}"/>
              </a:ext>
            </a:extLst>
          </p:cNvPr>
          <p:cNvSpPr/>
          <p:nvPr/>
        </p:nvSpPr>
        <p:spPr>
          <a:xfrm>
            <a:off x="2218722" y="2650612"/>
            <a:ext cx="1339179" cy="843557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769EB5CE-FC62-4F91-B08B-F9914FFD2EFE}"/>
              </a:ext>
            </a:extLst>
          </p:cNvPr>
          <p:cNvSpPr/>
          <p:nvPr/>
        </p:nvSpPr>
        <p:spPr>
          <a:xfrm>
            <a:off x="2879729" y="4003570"/>
            <a:ext cx="1339179" cy="636654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BB7AD105-A46F-48AD-9557-16CC0ABAACCF}"/>
              </a:ext>
            </a:extLst>
          </p:cNvPr>
          <p:cNvSpPr/>
          <p:nvPr/>
        </p:nvSpPr>
        <p:spPr>
          <a:xfrm>
            <a:off x="5521269" y="1462921"/>
            <a:ext cx="1249020" cy="670079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85BAA672-1044-4309-839B-432C31D5147D}"/>
              </a:ext>
            </a:extLst>
          </p:cNvPr>
          <p:cNvSpPr/>
          <p:nvPr/>
        </p:nvSpPr>
        <p:spPr>
          <a:xfrm>
            <a:off x="4634534" y="2690949"/>
            <a:ext cx="1339179" cy="843557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653D887F-E4BE-401A-95A0-5EF29F07AA5A}"/>
              </a:ext>
            </a:extLst>
          </p:cNvPr>
          <p:cNvSpPr/>
          <p:nvPr/>
        </p:nvSpPr>
        <p:spPr>
          <a:xfrm>
            <a:off x="6256251" y="2690949"/>
            <a:ext cx="1339179" cy="843557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A2AC8817-3589-4885-BB71-9B036D0B23F2}"/>
              </a:ext>
            </a:extLst>
          </p:cNvPr>
          <p:cNvSpPr/>
          <p:nvPr/>
        </p:nvSpPr>
        <p:spPr>
          <a:xfrm>
            <a:off x="5047697" y="4044456"/>
            <a:ext cx="1249020" cy="549172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2756465-3E56-4963-9DC2-A818F3F030E3}"/>
              </a:ext>
            </a:extLst>
          </p:cNvPr>
          <p:cNvSpPr txBox="1"/>
          <p:nvPr/>
        </p:nvSpPr>
        <p:spPr>
          <a:xfrm>
            <a:off x="9566749" y="1324293"/>
            <a:ext cx="10116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Bright color?</a:t>
            </a:r>
            <a:endParaRPr lang="en-GB" sz="2400" dirty="0"/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CDC65E9-D3C0-4310-A39C-710286DCD388}"/>
              </a:ext>
            </a:extLst>
          </p:cNvPr>
          <p:cNvCxnSpPr/>
          <p:nvPr/>
        </p:nvCxnSpPr>
        <p:spPr>
          <a:xfrm flipH="1">
            <a:off x="9445003" y="2122861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166A4D7E-566B-417E-B39A-19DB33A0B23D}"/>
              </a:ext>
            </a:extLst>
          </p:cNvPr>
          <p:cNvCxnSpPr>
            <a:cxnSpLocks/>
          </p:cNvCxnSpPr>
          <p:nvPr/>
        </p:nvCxnSpPr>
        <p:spPr>
          <a:xfrm>
            <a:off x="10160279" y="2101348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883E426C-563F-41E6-A6AA-F0C7608E1027}"/>
              </a:ext>
            </a:extLst>
          </p:cNvPr>
          <p:cNvSpPr txBox="1"/>
          <p:nvPr/>
        </p:nvSpPr>
        <p:spPr>
          <a:xfrm>
            <a:off x="9148593" y="2033883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5EEA360-7DF6-4561-A699-403BAC70A0B2}"/>
              </a:ext>
            </a:extLst>
          </p:cNvPr>
          <p:cNvSpPr txBox="1"/>
          <p:nvPr/>
        </p:nvSpPr>
        <p:spPr>
          <a:xfrm>
            <a:off x="10409251" y="2033882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931DA0B1-E1E2-48DA-884F-BFA3F8B95E3C}"/>
              </a:ext>
            </a:extLst>
          </p:cNvPr>
          <p:cNvSpPr txBox="1"/>
          <p:nvPr/>
        </p:nvSpPr>
        <p:spPr>
          <a:xfrm>
            <a:off x="10259835" y="2852423"/>
            <a:ext cx="1137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&gt; 20 g?</a:t>
            </a:r>
            <a:endParaRPr lang="en-GB" sz="24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121DB59-F61E-4960-AF39-83B34363103E}"/>
              </a:ext>
            </a:extLst>
          </p:cNvPr>
          <p:cNvSpPr txBox="1"/>
          <p:nvPr/>
        </p:nvSpPr>
        <p:spPr>
          <a:xfrm>
            <a:off x="8715620" y="2823960"/>
            <a:ext cx="989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&gt;1 kg?</a:t>
            </a:r>
            <a:endParaRPr lang="en-GB" sz="2400" dirty="0"/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046C0389-20FA-4A2B-AAC9-446D4005D345}"/>
              </a:ext>
            </a:extLst>
          </p:cNvPr>
          <p:cNvCxnSpPr/>
          <p:nvPr/>
        </p:nvCxnSpPr>
        <p:spPr>
          <a:xfrm flipH="1">
            <a:off x="8464657" y="3583148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B2DE9230-6BD6-496F-8870-BAED56E9DFDD}"/>
              </a:ext>
            </a:extLst>
          </p:cNvPr>
          <p:cNvCxnSpPr>
            <a:cxnSpLocks/>
          </p:cNvCxnSpPr>
          <p:nvPr/>
        </p:nvCxnSpPr>
        <p:spPr>
          <a:xfrm>
            <a:off x="9179933" y="3561635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E67C66B5-9277-4D51-A064-4561E3190A7B}"/>
              </a:ext>
            </a:extLst>
          </p:cNvPr>
          <p:cNvSpPr txBox="1"/>
          <p:nvPr/>
        </p:nvSpPr>
        <p:spPr>
          <a:xfrm>
            <a:off x="8168247" y="3494170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F969614-54D5-4BC2-A8B1-45F1284F22C6}"/>
              </a:ext>
            </a:extLst>
          </p:cNvPr>
          <p:cNvSpPr txBox="1"/>
          <p:nvPr/>
        </p:nvSpPr>
        <p:spPr>
          <a:xfrm>
            <a:off x="9428905" y="3494169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8C3DC46-A7B3-4FA4-AAA9-0DDBBA4D7697}"/>
              </a:ext>
            </a:extLst>
          </p:cNvPr>
          <p:cNvSpPr txBox="1"/>
          <p:nvPr/>
        </p:nvSpPr>
        <p:spPr>
          <a:xfrm rot="5400000">
            <a:off x="9178635" y="4318356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Fruit</a:t>
            </a:r>
            <a:endParaRPr lang="en-GB" sz="2400" b="1" dirty="0">
              <a:solidFill>
                <a:schemeClr val="accent6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21C0C55-E879-46FB-B88A-7EB45FB9FB60}"/>
              </a:ext>
            </a:extLst>
          </p:cNvPr>
          <p:cNvSpPr txBox="1"/>
          <p:nvPr/>
        </p:nvSpPr>
        <p:spPr>
          <a:xfrm rot="5400000">
            <a:off x="8321829" y="5749999"/>
            <a:ext cx="1088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Animal</a:t>
            </a:r>
            <a:endParaRPr lang="en-GB" sz="2400" b="1" dirty="0">
              <a:solidFill>
                <a:schemeClr val="accent2"/>
              </a:solidFill>
            </a:endParaRP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6C5AADA7-085B-485E-A746-646ED67B3DF7}"/>
              </a:ext>
            </a:extLst>
          </p:cNvPr>
          <p:cNvCxnSpPr>
            <a:cxnSpLocks/>
          </p:cNvCxnSpPr>
          <p:nvPr/>
        </p:nvCxnSpPr>
        <p:spPr>
          <a:xfrm flipH="1">
            <a:off x="10616604" y="3583148"/>
            <a:ext cx="160769" cy="56519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2CB5ECF-C667-4511-8A33-9192BB840A09}"/>
              </a:ext>
            </a:extLst>
          </p:cNvPr>
          <p:cNvCxnSpPr>
            <a:cxnSpLocks/>
          </p:cNvCxnSpPr>
          <p:nvPr/>
        </p:nvCxnSpPr>
        <p:spPr>
          <a:xfrm>
            <a:off x="11003643" y="3561635"/>
            <a:ext cx="489006" cy="5526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685C02AD-5E8F-4266-B449-F8F24F5FA69B}"/>
              </a:ext>
            </a:extLst>
          </p:cNvPr>
          <p:cNvSpPr txBox="1"/>
          <p:nvPr/>
        </p:nvSpPr>
        <p:spPr>
          <a:xfrm>
            <a:off x="10109648" y="3535055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8A755C8-DAAE-4EB9-8BD5-B63DF67591E9}"/>
              </a:ext>
            </a:extLst>
          </p:cNvPr>
          <p:cNvSpPr txBox="1"/>
          <p:nvPr/>
        </p:nvSpPr>
        <p:spPr>
          <a:xfrm>
            <a:off x="11252615" y="3494169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75816EF-9A93-47B8-BB2B-C4018FE31DC2}"/>
              </a:ext>
            </a:extLst>
          </p:cNvPr>
          <p:cNvSpPr txBox="1"/>
          <p:nvPr/>
        </p:nvSpPr>
        <p:spPr>
          <a:xfrm rot="5400000">
            <a:off x="10129035" y="4497684"/>
            <a:ext cx="1088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Animal</a:t>
            </a:r>
            <a:endParaRPr lang="en-GB" sz="2400" b="1" dirty="0">
              <a:solidFill>
                <a:schemeClr val="accent2"/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C4F9BD7-C488-4E5A-B862-E703DF08C640}"/>
              </a:ext>
            </a:extLst>
          </p:cNvPr>
          <p:cNvSpPr txBox="1"/>
          <p:nvPr/>
        </p:nvSpPr>
        <p:spPr>
          <a:xfrm rot="5400000">
            <a:off x="11087685" y="4387603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Fruit</a:t>
            </a:r>
            <a:endParaRPr lang="en-GB" sz="2400" b="1" dirty="0">
              <a:solidFill>
                <a:schemeClr val="accent6"/>
              </a:solidFill>
            </a:endParaRP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41AFB2C5-1B13-4284-811F-96015CEE9261}"/>
              </a:ext>
            </a:extLst>
          </p:cNvPr>
          <p:cNvSpPr/>
          <p:nvPr/>
        </p:nvSpPr>
        <p:spPr>
          <a:xfrm>
            <a:off x="9397078" y="1308821"/>
            <a:ext cx="1249020" cy="82418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E6E94A19-9381-4981-A0B7-7C8486A6A1AD}"/>
              </a:ext>
            </a:extLst>
          </p:cNvPr>
          <p:cNvSpPr/>
          <p:nvPr/>
        </p:nvSpPr>
        <p:spPr>
          <a:xfrm>
            <a:off x="8510343" y="2690949"/>
            <a:ext cx="1339179" cy="843557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72BF1C31-775E-4B68-BB42-DA549D12A450}"/>
              </a:ext>
            </a:extLst>
          </p:cNvPr>
          <p:cNvSpPr/>
          <p:nvPr/>
        </p:nvSpPr>
        <p:spPr>
          <a:xfrm>
            <a:off x="10132060" y="2690949"/>
            <a:ext cx="1339179" cy="843557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0" name="Picture 8" descr="10 of the World's Most Dangerous Fish | Britannica">
            <a:extLst>
              <a:ext uri="{FF2B5EF4-FFF2-40B4-BE49-F238E27FC236}">
                <a16:creationId xmlns:a16="http://schemas.microsoft.com/office/drawing/2014/main" id="{681BE378-734F-4B5B-8B81-E332ECE9AB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3" r="10152"/>
          <a:stretch/>
        </p:blipFill>
        <p:spPr bwMode="auto">
          <a:xfrm>
            <a:off x="1931701" y="4894743"/>
            <a:ext cx="783411" cy="670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Picture 8" descr="10 of the World's Most Dangerous Fish | Britannica">
            <a:extLst>
              <a:ext uri="{FF2B5EF4-FFF2-40B4-BE49-F238E27FC236}">
                <a16:creationId xmlns:a16="http://schemas.microsoft.com/office/drawing/2014/main" id="{E2044A82-D82E-4920-98B1-924AB68D1D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3" r="10152"/>
          <a:stretch/>
        </p:blipFill>
        <p:spPr bwMode="auto">
          <a:xfrm>
            <a:off x="4839811" y="6136964"/>
            <a:ext cx="783411" cy="670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Picture 8" descr="10 of the World's Most Dangerous Fish | Britannica">
            <a:extLst>
              <a:ext uri="{FF2B5EF4-FFF2-40B4-BE49-F238E27FC236}">
                <a16:creationId xmlns:a16="http://schemas.microsoft.com/office/drawing/2014/main" id="{2DD06DC4-B3B8-4FCC-A91F-3F9BBBE81D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3" r="10152"/>
          <a:stretch/>
        </p:blipFill>
        <p:spPr bwMode="auto">
          <a:xfrm>
            <a:off x="10231352" y="5229782"/>
            <a:ext cx="783411" cy="670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Picture 4" descr="Italy's pear industry seeks new strategy">
            <a:extLst>
              <a:ext uri="{FF2B5EF4-FFF2-40B4-BE49-F238E27FC236}">
                <a16:creationId xmlns:a16="http://schemas.microsoft.com/office/drawing/2014/main" id="{21BDE4D3-5BEA-4F62-92CB-1814B2D225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16" r="15568"/>
          <a:stretch/>
        </p:blipFill>
        <p:spPr bwMode="auto">
          <a:xfrm>
            <a:off x="3424763" y="5928969"/>
            <a:ext cx="912860" cy="786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Picture 4" descr="Italy's pear industry seeks new strategy">
            <a:extLst>
              <a:ext uri="{FF2B5EF4-FFF2-40B4-BE49-F238E27FC236}">
                <a16:creationId xmlns:a16="http://schemas.microsoft.com/office/drawing/2014/main" id="{A7039109-C379-486D-82BD-3ACE6089A5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16" r="15568"/>
          <a:stretch/>
        </p:blipFill>
        <p:spPr bwMode="auto">
          <a:xfrm>
            <a:off x="7121316" y="5736377"/>
            <a:ext cx="912860" cy="786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Picture 4" descr="Italy's pear industry seeks new strategy">
            <a:extLst>
              <a:ext uri="{FF2B5EF4-FFF2-40B4-BE49-F238E27FC236}">
                <a16:creationId xmlns:a16="http://schemas.microsoft.com/office/drawing/2014/main" id="{16F34AB3-D19D-4ECC-B93D-BAD65DEB24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16" r="15568"/>
          <a:stretch/>
        </p:blipFill>
        <p:spPr bwMode="auto">
          <a:xfrm>
            <a:off x="9089300" y="4912731"/>
            <a:ext cx="912860" cy="786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0" name="TextBox 159">
            <a:extLst>
              <a:ext uri="{FF2B5EF4-FFF2-40B4-BE49-F238E27FC236}">
                <a16:creationId xmlns:a16="http://schemas.microsoft.com/office/drawing/2014/main" id="{E07AAF2F-4BF1-48AC-860C-532D9AE19E99}"/>
              </a:ext>
            </a:extLst>
          </p:cNvPr>
          <p:cNvSpPr txBox="1"/>
          <p:nvPr/>
        </p:nvSpPr>
        <p:spPr>
          <a:xfrm>
            <a:off x="7955723" y="4185243"/>
            <a:ext cx="1135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Round?</a:t>
            </a:r>
            <a:endParaRPr lang="en-GB" sz="2400" dirty="0"/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0E5356E0-A663-4D73-BACF-05A174894788}"/>
              </a:ext>
            </a:extLst>
          </p:cNvPr>
          <p:cNvCxnSpPr>
            <a:cxnSpLocks/>
          </p:cNvCxnSpPr>
          <p:nvPr/>
        </p:nvCxnSpPr>
        <p:spPr>
          <a:xfrm flipH="1">
            <a:off x="8255791" y="4718491"/>
            <a:ext cx="180040" cy="58100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6F0B809C-BFD1-487E-AF74-24BB122CAB8C}"/>
              </a:ext>
            </a:extLst>
          </p:cNvPr>
          <p:cNvCxnSpPr>
            <a:cxnSpLocks/>
          </p:cNvCxnSpPr>
          <p:nvPr/>
        </p:nvCxnSpPr>
        <p:spPr>
          <a:xfrm>
            <a:off x="8662101" y="4696978"/>
            <a:ext cx="204108" cy="58475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59DDC0A9-C587-48E7-B5E4-FC78FE774113}"/>
              </a:ext>
            </a:extLst>
          </p:cNvPr>
          <p:cNvSpPr txBox="1"/>
          <p:nvPr/>
        </p:nvSpPr>
        <p:spPr>
          <a:xfrm>
            <a:off x="7815928" y="4693135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27940064-EE2E-4059-B55A-2E0C93B8B49D}"/>
              </a:ext>
            </a:extLst>
          </p:cNvPr>
          <p:cNvSpPr txBox="1"/>
          <p:nvPr/>
        </p:nvSpPr>
        <p:spPr>
          <a:xfrm>
            <a:off x="8688553" y="4657639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  <a:endParaRPr lang="en-GB" sz="2400" dirty="0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CEDA2104-CDFA-4C73-B5CC-C44176CF47C8}"/>
              </a:ext>
            </a:extLst>
          </p:cNvPr>
          <p:cNvSpPr/>
          <p:nvPr/>
        </p:nvSpPr>
        <p:spPr>
          <a:xfrm>
            <a:off x="7898900" y="4058551"/>
            <a:ext cx="1249020" cy="670079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78EA4D28-7432-4D61-A3E7-3A51337F110C}"/>
              </a:ext>
            </a:extLst>
          </p:cNvPr>
          <p:cNvSpPr txBox="1"/>
          <p:nvPr/>
        </p:nvSpPr>
        <p:spPr>
          <a:xfrm rot="5400000">
            <a:off x="7839791" y="5466360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Fruit</a:t>
            </a:r>
            <a:endParaRPr lang="en-GB" sz="2400" b="1" dirty="0">
              <a:solidFill>
                <a:schemeClr val="accent6"/>
              </a:solidFill>
            </a:endParaRPr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09A639C4-E175-4FEB-8876-5287D86E75C2}"/>
              </a:ext>
            </a:extLst>
          </p:cNvPr>
          <p:cNvGrpSpPr/>
          <p:nvPr/>
        </p:nvGrpSpPr>
        <p:grpSpPr>
          <a:xfrm>
            <a:off x="7834003" y="57399"/>
            <a:ext cx="4220771" cy="1234650"/>
            <a:chOff x="7834003" y="57399"/>
            <a:chExt cx="4220771" cy="1234650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24D14BCE-6BCC-4731-B2A2-59A4C24D5A84}"/>
                </a:ext>
              </a:extLst>
            </p:cNvPr>
            <p:cNvSpPr/>
            <p:nvPr/>
          </p:nvSpPr>
          <p:spPr>
            <a:xfrm>
              <a:off x="7834003" y="57399"/>
              <a:ext cx="4220771" cy="12346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1862238C-4AB6-4712-9D16-40AF795BC07D}"/>
                </a:ext>
              </a:extLst>
            </p:cNvPr>
            <p:cNvSpPr txBox="1"/>
            <p:nvPr/>
          </p:nvSpPr>
          <p:spPr>
            <a:xfrm rot="16200000">
              <a:off x="7573805" y="476843"/>
              <a:ext cx="889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Test set</a:t>
              </a:r>
              <a:endParaRPr lang="en-GB" dirty="0"/>
            </a:p>
          </p:txBody>
        </p:sp>
        <p:pic>
          <p:nvPicPr>
            <p:cNvPr id="147" name="Picture 4" descr="Italy's pear industry seeks new strategy">
              <a:extLst>
                <a:ext uri="{FF2B5EF4-FFF2-40B4-BE49-F238E27FC236}">
                  <a16:creationId xmlns:a16="http://schemas.microsoft.com/office/drawing/2014/main" id="{F51FBB4A-D585-4AE9-85AD-0A5CC042EE0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416" r="15568"/>
            <a:stretch/>
          </p:blipFill>
          <p:spPr bwMode="auto">
            <a:xfrm>
              <a:off x="10662423" y="130911"/>
              <a:ext cx="1282098" cy="11043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9" name="Picture 8" descr="10 of the World's Most Dangerous Fish | Britannica">
              <a:extLst>
                <a:ext uri="{FF2B5EF4-FFF2-40B4-BE49-F238E27FC236}">
                  <a16:creationId xmlns:a16="http://schemas.microsoft.com/office/drawing/2014/main" id="{7FBD7F7E-2002-4B90-A194-95594935620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63" r="10152"/>
            <a:stretch/>
          </p:blipFill>
          <p:spPr bwMode="auto">
            <a:xfrm>
              <a:off x="8231598" y="116244"/>
              <a:ext cx="1309599" cy="11201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338" name="Picture 2" descr="Fate of meerkats tied to seasonal climate effects">
              <a:extLst>
                <a:ext uri="{FF2B5EF4-FFF2-40B4-BE49-F238E27FC236}">
                  <a16:creationId xmlns:a16="http://schemas.microsoft.com/office/drawing/2014/main" id="{C2DA0236-38C7-487B-B539-86DC1B57000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716"/>
            <a:stretch/>
          </p:blipFill>
          <p:spPr bwMode="auto">
            <a:xfrm>
              <a:off x="9629850" y="124729"/>
              <a:ext cx="973646" cy="11116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70" name="Picture 2" descr="Fate of meerkats tied to seasonal climate effects">
            <a:extLst>
              <a:ext uri="{FF2B5EF4-FFF2-40B4-BE49-F238E27FC236}">
                <a16:creationId xmlns:a16="http://schemas.microsoft.com/office/drawing/2014/main" id="{1C2E9B7E-5774-475E-ACF2-0F55B1AB1E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16"/>
          <a:stretch/>
        </p:blipFill>
        <p:spPr bwMode="auto">
          <a:xfrm>
            <a:off x="1243577" y="5200675"/>
            <a:ext cx="637874" cy="728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Picture 2" descr="Fate of meerkats tied to seasonal climate effects">
            <a:extLst>
              <a:ext uri="{FF2B5EF4-FFF2-40B4-BE49-F238E27FC236}">
                <a16:creationId xmlns:a16="http://schemas.microsoft.com/office/drawing/2014/main" id="{F2CB2D8B-250E-4C82-A0D1-3FE25B64D8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16"/>
          <a:stretch/>
        </p:blipFill>
        <p:spPr bwMode="auto">
          <a:xfrm>
            <a:off x="7254374" y="4987938"/>
            <a:ext cx="637874" cy="728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Picture 2" descr="Fate of meerkats tied to seasonal climate effects">
            <a:extLst>
              <a:ext uri="{FF2B5EF4-FFF2-40B4-BE49-F238E27FC236}">
                <a16:creationId xmlns:a16="http://schemas.microsoft.com/office/drawing/2014/main" id="{F7614785-D5A3-4167-BF36-148A6E50C6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16"/>
          <a:stretch/>
        </p:blipFill>
        <p:spPr bwMode="auto">
          <a:xfrm>
            <a:off x="10350106" y="5990298"/>
            <a:ext cx="637874" cy="728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" name="TextBox 173">
            <a:extLst>
              <a:ext uri="{FF2B5EF4-FFF2-40B4-BE49-F238E27FC236}">
                <a16:creationId xmlns:a16="http://schemas.microsoft.com/office/drawing/2014/main" id="{EA7776A9-B494-49F6-A1EB-F1EFBD268F83}"/>
              </a:ext>
            </a:extLst>
          </p:cNvPr>
          <p:cNvSpPr txBox="1"/>
          <p:nvPr/>
        </p:nvSpPr>
        <p:spPr>
          <a:xfrm>
            <a:off x="8336774" y="267610"/>
            <a:ext cx="10887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/>
                </a:solidFill>
                <a:effectLst>
                  <a:glow rad="2286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Animal</a:t>
            </a:r>
          </a:p>
          <a:p>
            <a:pPr algn="ctr"/>
            <a:r>
              <a:rPr lang="en-US" sz="2400" b="1" dirty="0">
                <a:solidFill>
                  <a:schemeClr val="accent2"/>
                </a:solidFill>
                <a:effectLst>
                  <a:glow rad="2286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(2/3)</a:t>
            </a:r>
            <a:endParaRPr lang="en-GB" sz="2400" b="1" dirty="0">
              <a:solidFill>
                <a:schemeClr val="accent2"/>
              </a:solidFill>
              <a:effectLst>
                <a:glow rad="228600">
                  <a:schemeClr val="tx1"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8B905998-7FE6-4E17-AEBB-F5B728FA6A5B}"/>
              </a:ext>
            </a:extLst>
          </p:cNvPr>
          <p:cNvSpPr txBox="1"/>
          <p:nvPr/>
        </p:nvSpPr>
        <p:spPr>
          <a:xfrm>
            <a:off x="9557338" y="267610"/>
            <a:ext cx="10887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/>
                </a:solidFill>
                <a:effectLst>
                  <a:glow rad="2286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Animal</a:t>
            </a:r>
          </a:p>
          <a:p>
            <a:pPr algn="ctr"/>
            <a:r>
              <a:rPr lang="en-US" sz="2400" b="1" dirty="0">
                <a:solidFill>
                  <a:schemeClr val="accent2"/>
                </a:solidFill>
                <a:effectLst>
                  <a:glow rad="2286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(2/3)</a:t>
            </a:r>
            <a:endParaRPr lang="en-GB" sz="2400" b="1" dirty="0">
              <a:solidFill>
                <a:schemeClr val="accent2"/>
              </a:solidFill>
              <a:effectLst>
                <a:glow rad="228600">
                  <a:schemeClr val="tx1"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F7EAED6E-C315-4EB6-BC93-432FB8F1BDCE}"/>
              </a:ext>
            </a:extLst>
          </p:cNvPr>
          <p:cNvSpPr txBox="1"/>
          <p:nvPr/>
        </p:nvSpPr>
        <p:spPr>
          <a:xfrm>
            <a:off x="10868601" y="267610"/>
            <a:ext cx="8210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/>
                </a:solidFill>
                <a:effectLst>
                  <a:glow rad="2286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Fruit</a:t>
            </a:r>
          </a:p>
          <a:p>
            <a:pPr algn="ctr"/>
            <a:r>
              <a:rPr lang="en-US" sz="2400" b="1" dirty="0">
                <a:solidFill>
                  <a:schemeClr val="accent6"/>
                </a:solidFill>
                <a:effectLst>
                  <a:glow rad="2286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(3/3)</a:t>
            </a:r>
            <a:endParaRPr lang="en-GB" sz="2400" b="1" dirty="0">
              <a:solidFill>
                <a:schemeClr val="accent6"/>
              </a:solidFill>
              <a:effectLst>
                <a:glow rad="228600">
                  <a:schemeClr val="tx1"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72896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" grpId="0"/>
      <p:bldP spid="175" grpId="0"/>
      <p:bldP spid="17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33C48-6335-4264-B5BF-C149BD10B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</a:t>
            </a:r>
            <a:r>
              <a:rPr lang="en-GB" dirty="0" err="1"/>
              <a:t>eomagnetic</a:t>
            </a:r>
            <a:r>
              <a:rPr lang="en-GB" dirty="0"/>
              <a:t> Storms</a:t>
            </a:r>
          </a:p>
        </p:txBody>
      </p:sp>
      <p:pic>
        <p:nvPicPr>
          <p:cNvPr id="2052" name="Picture 4" descr="7 of the Strongest Solar Storms in Recorded History">
            <a:extLst>
              <a:ext uri="{FF2B5EF4-FFF2-40B4-BE49-F238E27FC236}">
                <a16:creationId xmlns:a16="http://schemas.microsoft.com/office/drawing/2014/main" id="{A31EC865-DE63-4012-8AFA-4830EF0939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18" r="12675"/>
          <a:stretch/>
        </p:blipFill>
        <p:spPr bwMode="auto">
          <a:xfrm>
            <a:off x="8826505" y="2556316"/>
            <a:ext cx="3365495" cy="2959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Geomagnetic Storms | NOAA / NWS Space Weather Prediction Center">
            <a:extLst>
              <a:ext uri="{FF2B5EF4-FFF2-40B4-BE49-F238E27FC236}">
                <a16:creationId xmlns:a16="http://schemas.microsoft.com/office/drawing/2014/main" id="{807CD3C2-2D02-4FC4-8514-A998B05BE5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7" r="20475"/>
          <a:stretch/>
        </p:blipFill>
        <p:spPr bwMode="auto">
          <a:xfrm>
            <a:off x="4570872" y="2553969"/>
            <a:ext cx="4124075" cy="2961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olar-wind">
            <a:extLst>
              <a:ext uri="{FF2B5EF4-FFF2-40B4-BE49-F238E27FC236}">
                <a16:creationId xmlns:a16="http://schemas.microsoft.com/office/drawing/2014/main" id="{13DBB727-339E-4917-A03B-C86D081D6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56315"/>
            <a:ext cx="4439314" cy="2959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086CEB-C0BC-427A-B1B9-51F0002E3403}"/>
              </a:ext>
            </a:extLst>
          </p:cNvPr>
          <p:cNvSpPr txBox="1"/>
          <p:nvPr/>
        </p:nvSpPr>
        <p:spPr>
          <a:xfrm>
            <a:off x="2580198" y="6252520"/>
            <a:ext cx="72555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5"/>
              </a:rPr>
              <a:t>https://www.drivendata.org/competitions/73/noaa-magnetic-forecasting/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2098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33C48-6335-4264-B5BF-C149BD10B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Satellites: NOAA DSCOVR &amp; NASA ACE</a:t>
            </a:r>
          </a:p>
        </p:txBody>
      </p:sp>
      <p:pic>
        <p:nvPicPr>
          <p:cNvPr id="2050" name="Picture 2" descr="Lagrange Points of the Earth-Sun system (not drawn to scale). Credit: NOAA">
            <a:extLst>
              <a:ext uri="{FF2B5EF4-FFF2-40B4-BE49-F238E27FC236}">
                <a16:creationId xmlns:a16="http://schemas.microsoft.com/office/drawing/2014/main" id="{3E7E3257-F738-46CB-A251-15E7321C51A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735" y="1670781"/>
            <a:ext cx="6032390" cy="4661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BBF66E-CCE7-4F55-9060-1253F87DB671}"/>
              </a:ext>
            </a:extLst>
          </p:cNvPr>
          <p:cNvSpPr txBox="1"/>
          <p:nvPr/>
        </p:nvSpPr>
        <p:spPr>
          <a:xfrm>
            <a:off x="7629276" y="2142877"/>
            <a:ext cx="397962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Lagrange points: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Sun's gravity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Earth's gravity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Centrifugal force</a:t>
            </a:r>
          </a:p>
          <a:p>
            <a:r>
              <a:rPr lang="en-US" sz="2800" dirty="0"/>
              <a:t>cancel out.</a:t>
            </a:r>
          </a:p>
          <a:p>
            <a:r>
              <a:rPr lang="en-US" sz="2800" dirty="0">
                <a:sym typeface="Wingdings" panose="05000000000000000000" pitchFamily="2" charset="2"/>
              </a:rPr>
              <a:t> stationary</a:t>
            </a:r>
            <a:endParaRPr lang="en-US" sz="2800" dirty="0"/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433571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67B89-6BBC-4DD3-AB09-92B258151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MagNet</a:t>
            </a:r>
            <a:r>
              <a:rPr lang="en-GB" dirty="0"/>
              <a:t>: Model the Geomagnetic Field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3C481-4FB2-4F51-8AA6-0AADB84D4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Forecast DST (Disturbance Storm-Time Index) (</a:t>
            </a:r>
            <a:r>
              <a:rPr lang="en-GB" dirty="0">
                <a:solidFill>
                  <a:schemeClr val="accent1"/>
                </a:solidFill>
              </a:rPr>
              <a:t>next 1 hour</a:t>
            </a:r>
            <a:r>
              <a:rPr lang="en-GB" dirty="0"/>
              <a:t>)</a:t>
            </a:r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pic>
        <p:nvPicPr>
          <p:cNvPr id="4098" name="Picture 2" descr="alt-text">
            <a:extLst>
              <a:ext uri="{FF2B5EF4-FFF2-40B4-BE49-F238E27FC236}">
                <a16:creationId xmlns:a16="http://schemas.microsoft.com/office/drawing/2014/main" id="{036AD575-8F4E-4D8D-81EE-45AD854A11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6" t="6510" r="8696" b="6510"/>
          <a:stretch/>
        </p:blipFill>
        <p:spPr bwMode="auto">
          <a:xfrm>
            <a:off x="6187690" y="3022927"/>
            <a:ext cx="5806852" cy="2710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FA8C8E-B107-48F3-AE9E-FFBE2546CA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618" t="32331"/>
          <a:stretch/>
        </p:blipFill>
        <p:spPr>
          <a:xfrm>
            <a:off x="492053" y="3429000"/>
            <a:ext cx="5512258" cy="189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13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F3432-B537-4352-81FD-43980A33E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/>
              </a:rPr>
              <a:t>Machine Learning Predicts Laboratory Earthquakes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7EB0B7-18CD-4466-9016-7BC37A832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Acoustic emission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1DFA15-F124-4B3E-82F4-A88FC29398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Seismic emission</a:t>
            </a:r>
            <a:endParaRPr lang="en-GB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F15148E-0B2A-46BB-8AA1-305D99C3899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179368" y="2505075"/>
            <a:ext cx="5168851" cy="3684588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472D252-3FC7-4519-BCD0-AA22DF136C9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451550" y="2505075"/>
            <a:ext cx="3934262" cy="368458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0FD40CF-4AF0-44D6-B044-E57313747A92}"/>
              </a:ext>
            </a:extLst>
          </p:cNvPr>
          <p:cNvSpPr txBox="1"/>
          <p:nvPr/>
        </p:nvSpPr>
        <p:spPr>
          <a:xfrm>
            <a:off x="6164752" y="6318443"/>
            <a:ext cx="596676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 err="1"/>
              <a:t>Rouet</a:t>
            </a:r>
            <a:r>
              <a:rPr lang="en-GB" sz="1000" dirty="0"/>
              <a:t>-Leduc, B., Hulbert, C., &amp; Johnson, P. A. 2019. “Continuous Chatter of the Cascadia Subduction Zone Revealed by Machine Learning.” </a:t>
            </a:r>
            <a:r>
              <a:rPr lang="en-GB" sz="1000" i="1" dirty="0"/>
              <a:t>Nature Geoscience</a:t>
            </a:r>
            <a:r>
              <a:rPr lang="en-GB" sz="1000" dirty="0"/>
              <a:t> 12 (1): 75–79. https://doi.org/10.1038/s41561-018-0274-6.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8AC9C7-3AA7-4097-95C3-D9BAA4E9AEED}"/>
              </a:ext>
            </a:extLst>
          </p:cNvPr>
          <p:cNvSpPr txBox="1"/>
          <p:nvPr/>
        </p:nvSpPr>
        <p:spPr>
          <a:xfrm>
            <a:off x="30810" y="6249193"/>
            <a:ext cx="609666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/>
              <a:t>Johnson, P. A., Ferdowsi, B., </a:t>
            </a:r>
            <a:r>
              <a:rPr lang="en-GB" sz="1000" dirty="0" err="1"/>
              <a:t>Kaproth</a:t>
            </a:r>
            <a:r>
              <a:rPr lang="en-GB" sz="1000" dirty="0"/>
              <a:t>, B. M., Scuderi, M., </a:t>
            </a:r>
            <a:r>
              <a:rPr lang="en-GB" sz="1000" dirty="0" err="1"/>
              <a:t>Griffa</a:t>
            </a:r>
            <a:r>
              <a:rPr lang="en-GB" sz="1000" dirty="0"/>
              <a:t>, M., </a:t>
            </a:r>
            <a:r>
              <a:rPr lang="en-GB" sz="1000" dirty="0" err="1"/>
              <a:t>Carmeliet</a:t>
            </a:r>
            <a:r>
              <a:rPr lang="en-GB" sz="1000" dirty="0"/>
              <a:t>, J., Guyer, R. A., Bas, P. Y. Le, </a:t>
            </a:r>
            <a:r>
              <a:rPr lang="en-GB" sz="1000" dirty="0" err="1"/>
              <a:t>Trugman</a:t>
            </a:r>
            <a:r>
              <a:rPr lang="en-GB" sz="1000" dirty="0"/>
              <a:t>, D. T., &amp; </a:t>
            </a:r>
            <a:r>
              <a:rPr lang="en-GB" sz="1000" dirty="0" err="1"/>
              <a:t>Marone</a:t>
            </a:r>
            <a:r>
              <a:rPr lang="en-GB" sz="1000" dirty="0"/>
              <a:t>, C. 2013. “Acoustic Emission and Microslip Precursors to Stick-Slip Failure in Sheared Granular Material.” </a:t>
            </a:r>
            <a:r>
              <a:rPr lang="en-GB" sz="1000" i="1" dirty="0"/>
              <a:t>Geophysical Research Letters</a:t>
            </a:r>
            <a:r>
              <a:rPr lang="en-GB" sz="1000" dirty="0"/>
              <a:t> 40 (21): 5627–31. https://doi.org/10.1002/2013GL057848.</a:t>
            </a:r>
          </a:p>
        </p:txBody>
      </p:sp>
    </p:spTree>
    <p:extLst>
      <p:ext uri="{BB962C8B-B14F-4D97-AF65-F5344CB8AC3E}">
        <p14:creationId xmlns:p14="http://schemas.microsoft.com/office/powerpoint/2010/main" val="4085053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84AD5-3DE5-4D4B-9D72-1897F6955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/>
              </a:rPr>
              <a:t>Machine Learning Predicts Laboratory Earthquakes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DECC3C-E95E-49B2-AD7F-B58071EA1BAA}"/>
              </a:ext>
            </a:extLst>
          </p:cNvPr>
          <p:cNvSpPr txBox="1"/>
          <p:nvPr/>
        </p:nvSpPr>
        <p:spPr>
          <a:xfrm>
            <a:off x="8961120" y="5645427"/>
            <a:ext cx="3161636" cy="1212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 err="1"/>
              <a:t>Rouet</a:t>
            </a:r>
            <a:r>
              <a:rPr lang="en-GB" sz="1200" dirty="0"/>
              <a:t>-Leduc, B., Hulbert, C., Lubbers, N., Barros, K., Humphreys, C. J., &amp; Johnson, P. A. 2017. “Machine Learning Predicts Laboratory Earthquakes.” </a:t>
            </a:r>
            <a:r>
              <a:rPr lang="en-GB" sz="1200" i="1" dirty="0"/>
              <a:t>Geophysical Research Letters</a:t>
            </a:r>
            <a:r>
              <a:rPr lang="en-GB" sz="1200" dirty="0"/>
              <a:t> 44 (18): 9276–82. https://doi.org/10.1002/2017GL074677.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CE13B6-0BEB-4290-9DC9-9B206BFD7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302" y="1753898"/>
            <a:ext cx="7303500" cy="502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569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A4CDB-7245-4D08-BFEA-58CB2C1F2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/>
              </a:rPr>
              <a:t>Machine Learning Predicts Laboratory Earthquakes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0A9E04-D1BB-42F2-A166-BC3AAD5D5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261" y="1745310"/>
            <a:ext cx="6505430" cy="50212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3D61D9-EDF8-4DFD-A0E7-8B2416C566CE}"/>
              </a:ext>
            </a:extLst>
          </p:cNvPr>
          <p:cNvSpPr txBox="1"/>
          <p:nvPr/>
        </p:nvSpPr>
        <p:spPr>
          <a:xfrm>
            <a:off x="8961120" y="5645427"/>
            <a:ext cx="3161636" cy="1212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 err="1"/>
              <a:t>Rouet</a:t>
            </a:r>
            <a:r>
              <a:rPr lang="en-GB" sz="1200" dirty="0"/>
              <a:t>-Leduc, B., Hulbert, C., Lubbers, N., Barros, K., Humphreys, C. J., &amp; Johnson, P. A. 2017. “Machine Learning Predicts Laboratory Earthquakes.” </a:t>
            </a:r>
            <a:r>
              <a:rPr lang="en-GB" sz="1200" i="1" dirty="0"/>
              <a:t>Geophysical Research Letters</a:t>
            </a:r>
            <a:r>
              <a:rPr lang="en-GB" sz="1200" dirty="0"/>
              <a:t> 44 (18): 9276–82. https://doi.org/10.1002/2017GL074677.</a:t>
            </a:r>
          </a:p>
        </p:txBody>
      </p:sp>
    </p:spTree>
    <p:extLst>
      <p:ext uri="{BB962C8B-B14F-4D97-AF65-F5344CB8AC3E}">
        <p14:creationId xmlns:p14="http://schemas.microsoft.com/office/powerpoint/2010/main" val="23746402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FCC0D-D144-4E30-A9AE-AC6EB7B39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Seismic waves</a:t>
            </a:r>
            <a:endParaRPr lang="en-GB" dirty="0"/>
          </a:p>
        </p:txBody>
      </p:sp>
      <p:pic>
        <p:nvPicPr>
          <p:cNvPr id="3" name="Picture 2" descr="Seismogram from the Magnitude 2.9 ML Dumfries Earthquake of 13 May 2001">
            <a:extLst>
              <a:ext uri="{FF2B5EF4-FFF2-40B4-BE49-F238E27FC236}">
                <a16:creationId xmlns:a16="http://schemas.microsoft.com/office/drawing/2014/main" id="{71CEA59E-D052-4423-82DF-619F370E77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01" r="16715"/>
          <a:stretch/>
        </p:blipFill>
        <p:spPr bwMode="auto">
          <a:xfrm>
            <a:off x="938879" y="2361436"/>
            <a:ext cx="5031762" cy="2298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Seismogram from the Magnitude 2.9 ML Dumfries Earthquake of 13 May 2001">
            <a:extLst>
              <a:ext uri="{FF2B5EF4-FFF2-40B4-BE49-F238E27FC236}">
                <a16:creationId xmlns:a16="http://schemas.microsoft.com/office/drawing/2014/main" id="{F7921773-116C-45F2-AC45-C7092F5606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601" r="16715" b="32178"/>
          <a:stretch/>
        </p:blipFill>
        <p:spPr bwMode="auto">
          <a:xfrm>
            <a:off x="998513" y="2361435"/>
            <a:ext cx="5031762" cy="1558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016826-50DC-43DC-9CB8-4B860D784926}"/>
              </a:ext>
            </a:extLst>
          </p:cNvPr>
          <p:cNvCxnSpPr/>
          <p:nvPr/>
        </p:nvCxnSpPr>
        <p:spPr>
          <a:xfrm>
            <a:off x="6748943" y="3226375"/>
            <a:ext cx="460485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72D711B-CED9-4BE6-B982-EA6C8F9A82C5}"/>
              </a:ext>
            </a:extLst>
          </p:cNvPr>
          <p:cNvCxnSpPr>
            <a:cxnSpLocks/>
          </p:cNvCxnSpPr>
          <p:nvPr/>
        </p:nvCxnSpPr>
        <p:spPr>
          <a:xfrm flipV="1">
            <a:off x="6821648" y="2432718"/>
            <a:ext cx="0" cy="152933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37C37D87-7717-4CBF-A98A-68F8122829F0}"/>
              </a:ext>
            </a:extLst>
          </p:cNvPr>
          <p:cNvSpPr/>
          <p:nvPr/>
        </p:nvSpPr>
        <p:spPr>
          <a:xfrm>
            <a:off x="6789109" y="3195838"/>
            <a:ext cx="65077" cy="698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32691C-CF08-46C7-A78B-C17DBEE20D9C}"/>
              </a:ext>
            </a:extLst>
          </p:cNvPr>
          <p:cNvSpPr/>
          <p:nvPr/>
        </p:nvSpPr>
        <p:spPr>
          <a:xfrm>
            <a:off x="7037159" y="3195838"/>
            <a:ext cx="65077" cy="698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8B33796-B7E9-40D3-9375-500175CC99C0}"/>
              </a:ext>
            </a:extLst>
          </p:cNvPr>
          <p:cNvSpPr/>
          <p:nvPr/>
        </p:nvSpPr>
        <p:spPr>
          <a:xfrm>
            <a:off x="7285209" y="3189163"/>
            <a:ext cx="65077" cy="698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B040751-252B-4B91-ABB1-65F5FF790F38}"/>
              </a:ext>
            </a:extLst>
          </p:cNvPr>
          <p:cNvSpPr/>
          <p:nvPr/>
        </p:nvSpPr>
        <p:spPr>
          <a:xfrm>
            <a:off x="7533259" y="2498020"/>
            <a:ext cx="65077" cy="698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4694AAD-C16F-4C32-A4A8-C26E260B5D59}"/>
              </a:ext>
            </a:extLst>
          </p:cNvPr>
          <p:cNvSpPr/>
          <p:nvPr/>
        </p:nvSpPr>
        <p:spPr>
          <a:xfrm>
            <a:off x="7781309" y="3849954"/>
            <a:ext cx="65077" cy="698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4D31867-FE95-4BB3-A925-AD80CCAFD596}"/>
              </a:ext>
            </a:extLst>
          </p:cNvPr>
          <p:cNvSpPr/>
          <p:nvPr/>
        </p:nvSpPr>
        <p:spPr>
          <a:xfrm>
            <a:off x="8029359" y="2756182"/>
            <a:ext cx="65077" cy="698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5C69E8E-692B-464C-93F3-6BB57CAC708A}"/>
              </a:ext>
            </a:extLst>
          </p:cNvPr>
          <p:cNvSpPr/>
          <p:nvPr/>
        </p:nvSpPr>
        <p:spPr>
          <a:xfrm>
            <a:off x="8277409" y="2666650"/>
            <a:ext cx="65077" cy="698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290399-76A6-486F-B7F9-8F506355D39B}"/>
              </a:ext>
            </a:extLst>
          </p:cNvPr>
          <p:cNvSpPr/>
          <p:nvPr/>
        </p:nvSpPr>
        <p:spPr>
          <a:xfrm>
            <a:off x="8525459" y="2752007"/>
            <a:ext cx="65077" cy="698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E30AE90-2168-47D1-A08C-9EDE55AF8AF0}"/>
              </a:ext>
            </a:extLst>
          </p:cNvPr>
          <p:cNvSpPr/>
          <p:nvPr/>
        </p:nvSpPr>
        <p:spPr>
          <a:xfrm>
            <a:off x="8773509" y="3666389"/>
            <a:ext cx="65077" cy="698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C54398F-9C7A-4C89-96D7-EB0794D61943}"/>
              </a:ext>
            </a:extLst>
          </p:cNvPr>
          <p:cNvSpPr/>
          <p:nvPr/>
        </p:nvSpPr>
        <p:spPr>
          <a:xfrm>
            <a:off x="9021559" y="3503239"/>
            <a:ext cx="65077" cy="698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DE6495D-A348-4CA5-968D-65EACEB1022A}"/>
              </a:ext>
            </a:extLst>
          </p:cNvPr>
          <p:cNvSpPr/>
          <p:nvPr/>
        </p:nvSpPr>
        <p:spPr>
          <a:xfrm>
            <a:off x="9269609" y="3332068"/>
            <a:ext cx="65077" cy="698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F553D2F-CCFB-4C07-AB00-E7EC030B3C74}"/>
              </a:ext>
            </a:extLst>
          </p:cNvPr>
          <p:cNvSpPr/>
          <p:nvPr/>
        </p:nvSpPr>
        <p:spPr>
          <a:xfrm>
            <a:off x="9517659" y="3256913"/>
            <a:ext cx="65077" cy="698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A4E6C5D-7C9F-446F-80F2-735A45406257}"/>
              </a:ext>
            </a:extLst>
          </p:cNvPr>
          <p:cNvSpPr/>
          <p:nvPr/>
        </p:nvSpPr>
        <p:spPr>
          <a:xfrm>
            <a:off x="9765709" y="3191422"/>
            <a:ext cx="65077" cy="698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3A4D3B-6EC6-4DAF-922E-3F5D58FF39CF}"/>
              </a:ext>
            </a:extLst>
          </p:cNvPr>
          <p:cNvSpPr/>
          <p:nvPr/>
        </p:nvSpPr>
        <p:spPr>
          <a:xfrm>
            <a:off x="10013765" y="3191087"/>
            <a:ext cx="65077" cy="698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D330440-512A-4A69-96DB-9DF3E9653682}"/>
              </a:ext>
            </a:extLst>
          </p:cNvPr>
          <p:cNvCxnSpPr>
            <a:stCxn id="8" idx="6"/>
            <a:endCxn id="9" idx="2"/>
          </p:cNvCxnSpPr>
          <p:nvPr/>
        </p:nvCxnSpPr>
        <p:spPr>
          <a:xfrm>
            <a:off x="6854186" y="3230764"/>
            <a:ext cx="182973" cy="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5B3FBF3-E114-4B49-B752-56CFE240CA9E}"/>
              </a:ext>
            </a:extLst>
          </p:cNvPr>
          <p:cNvCxnSpPr>
            <a:stCxn id="9" idx="6"/>
            <a:endCxn id="10" idx="2"/>
          </p:cNvCxnSpPr>
          <p:nvPr/>
        </p:nvCxnSpPr>
        <p:spPr>
          <a:xfrm flipV="1">
            <a:off x="7102236" y="3224089"/>
            <a:ext cx="182973" cy="6675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9BB145D-630D-4E98-9E5C-369F754839F1}"/>
              </a:ext>
            </a:extLst>
          </p:cNvPr>
          <p:cNvCxnSpPr>
            <a:cxnSpLocks/>
            <a:stCxn id="10" idx="0"/>
            <a:endCxn id="11" idx="3"/>
          </p:cNvCxnSpPr>
          <p:nvPr/>
        </p:nvCxnSpPr>
        <p:spPr>
          <a:xfrm flipV="1">
            <a:off x="7317748" y="2557642"/>
            <a:ext cx="225041" cy="631521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B8AED3A-6ACD-499B-A49C-B4D6F3E0195C}"/>
              </a:ext>
            </a:extLst>
          </p:cNvPr>
          <p:cNvCxnSpPr>
            <a:cxnSpLocks/>
            <a:stCxn id="11" idx="5"/>
            <a:endCxn id="12" idx="1"/>
          </p:cNvCxnSpPr>
          <p:nvPr/>
        </p:nvCxnSpPr>
        <p:spPr>
          <a:xfrm>
            <a:off x="7588806" y="2557642"/>
            <a:ext cx="202033" cy="1302541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837B9A7-541D-4C11-AE41-86D617BD1D5F}"/>
              </a:ext>
            </a:extLst>
          </p:cNvPr>
          <p:cNvCxnSpPr>
            <a:stCxn id="12" idx="7"/>
            <a:endCxn id="13" idx="3"/>
          </p:cNvCxnSpPr>
          <p:nvPr/>
        </p:nvCxnSpPr>
        <p:spPr>
          <a:xfrm flipV="1">
            <a:off x="7836856" y="2815804"/>
            <a:ext cx="202033" cy="1044379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AE7B9B4-2FF7-43B7-A301-101398888C9B}"/>
              </a:ext>
            </a:extLst>
          </p:cNvPr>
          <p:cNvCxnSpPr>
            <a:cxnSpLocks/>
            <a:stCxn id="13" idx="7"/>
            <a:endCxn id="14" idx="2"/>
          </p:cNvCxnSpPr>
          <p:nvPr/>
        </p:nvCxnSpPr>
        <p:spPr>
          <a:xfrm flipV="1">
            <a:off x="8084906" y="2701576"/>
            <a:ext cx="192503" cy="64835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D4D5815-E054-46C8-955D-847272B8C14E}"/>
              </a:ext>
            </a:extLst>
          </p:cNvPr>
          <p:cNvCxnSpPr>
            <a:cxnSpLocks/>
            <a:stCxn id="14" idx="6"/>
            <a:endCxn id="15" idx="1"/>
          </p:cNvCxnSpPr>
          <p:nvPr/>
        </p:nvCxnSpPr>
        <p:spPr>
          <a:xfrm>
            <a:off x="8342486" y="2701576"/>
            <a:ext cx="192503" cy="6066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91F0D47-6CBA-42A9-8D5C-517A558424B2}"/>
              </a:ext>
            </a:extLst>
          </p:cNvPr>
          <p:cNvCxnSpPr>
            <a:cxnSpLocks/>
            <a:stCxn id="15" idx="6"/>
            <a:endCxn id="16" idx="1"/>
          </p:cNvCxnSpPr>
          <p:nvPr/>
        </p:nvCxnSpPr>
        <p:spPr>
          <a:xfrm>
            <a:off x="8590536" y="2786933"/>
            <a:ext cx="192503" cy="889685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3F39AFF-C76F-43E2-8CEF-E53EFEE30B28}"/>
              </a:ext>
            </a:extLst>
          </p:cNvPr>
          <p:cNvCxnSpPr>
            <a:cxnSpLocks/>
            <a:stCxn id="16" idx="6"/>
            <a:endCxn id="17" idx="3"/>
          </p:cNvCxnSpPr>
          <p:nvPr/>
        </p:nvCxnSpPr>
        <p:spPr>
          <a:xfrm flipV="1">
            <a:off x="8838586" y="3562861"/>
            <a:ext cx="192503" cy="138454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1DB52EA-3F7C-49A4-8ADF-2F0D1ED6E7D7}"/>
              </a:ext>
            </a:extLst>
          </p:cNvPr>
          <p:cNvCxnSpPr>
            <a:cxnSpLocks/>
            <a:stCxn id="17" idx="7"/>
            <a:endCxn id="18" idx="3"/>
          </p:cNvCxnSpPr>
          <p:nvPr/>
        </p:nvCxnSpPr>
        <p:spPr>
          <a:xfrm flipV="1">
            <a:off x="9077106" y="3391690"/>
            <a:ext cx="202033" cy="121778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636CF4D-A64A-4E90-AE60-90598441B5F7}"/>
              </a:ext>
            </a:extLst>
          </p:cNvPr>
          <p:cNvCxnSpPr>
            <a:cxnSpLocks/>
            <a:stCxn id="18" idx="6"/>
            <a:endCxn id="19" idx="2"/>
          </p:cNvCxnSpPr>
          <p:nvPr/>
        </p:nvCxnSpPr>
        <p:spPr>
          <a:xfrm flipV="1">
            <a:off x="9334686" y="3291839"/>
            <a:ext cx="182973" cy="75155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B1BD55C-5C9A-4451-95DF-4D88A808AD59}"/>
              </a:ext>
            </a:extLst>
          </p:cNvPr>
          <p:cNvCxnSpPr>
            <a:cxnSpLocks/>
            <a:stCxn id="19" idx="7"/>
            <a:endCxn id="20" idx="2"/>
          </p:cNvCxnSpPr>
          <p:nvPr/>
        </p:nvCxnSpPr>
        <p:spPr>
          <a:xfrm flipV="1">
            <a:off x="9573206" y="3226348"/>
            <a:ext cx="192503" cy="40794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F7FAC7B-079A-4FB6-B011-5BD81CF44163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 flipV="1">
            <a:off x="9830786" y="3226013"/>
            <a:ext cx="182979" cy="335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B1FB72B-B784-4D82-BEA6-3FE9EB960A54}"/>
                  </a:ext>
                </a:extLst>
              </p:cNvPr>
              <p:cNvSpPr txBox="1"/>
              <p:nvPr/>
            </p:nvSpPr>
            <p:spPr>
              <a:xfrm>
                <a:off x="6640780" y="3226594"/>
                <a:ext cx="4480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B1FB72B-B784-4D82-BEA6-3FE9EB960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780" y="3226594"/>
                <a:ext cx="44804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67A00CD-A57D-4E99-9B6C-8553A1525186}"/>
                  </a:ext>
                </a:extLst>
              </p:cNvPr>
              <p:cNvSpPr txBox="1"/>
              <p:nvPr/>
            </p:nvSpPr>
            <p:spPr>
              <a:xfrm>
                <a:off x="6894352" y="3226594"/>
                <a:ext cx="4480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67A00CD-A57D-4E99-9B6C-8553A1525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352" y="3226594"/>
                <a:ext cx="44804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46D1B5B-E0C9-418D-AA17-C885B6527084}"/>
                  </a:ext>
                </a:extLst>
              </p:cNvPr>
              <p:cNvSpPr txBox="1"/>
              <p:nvPr/>
            </p:nvSpPr>
            <p:spPr>
              <a:xfrm>
                <a:off x="9823708" y="3226594"/>
                <a:ext cx="4480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46D1B5B-E0C9-418D-AA17-C885B6527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3708" y="3226594"/>
                <a:ext cx="448043" cy="369332"/>
              </a:xfrm>
              <a:prstGeom prst="rect">
                <a:avLst/>
              </a:prstGeom>
              <a:blipFill>
                <a:blip r:embed="rId7"/>
                <a:stretch>
                  <a:fillRect r="-27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499D670-9420-464E-825E-9F68405076BB}"/>
              </a:ext>
            </a:extLst>
          </p:cNvPr>
          <p:cNvCxnSpPr/>
          <p:nvPr/>
        </p:nvCxnSpPr>
        <p:spPr>
          <a:xfrm>
            <a:off x="6748943" y="5028633"/>
            <a:ext cx="460485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63EF975-6E4B-4C43-95A7-262A411C8AF9}"/>
              </a:ext>
            </a:extLst>
          </p:cNvPr>
          <p:cNvCxnSpPr>
            <a:cxnSpLocks/>
          </p:cNvCxnSpPr>
          <p:nvPr/>
        </p:nvCxnSpPr>
        <p:spPr>
          <a:xfrm flipV="1">
            <a:off x="6821648" y="4234976"/>
            <a:ext cx="0" cy="152933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13D80427-4D15-4B4B-B585-3CA1D3F7791F}"/>
              </a:ext>
            </a:extLst>
          </p:cNvPr>
          <p:cNvSpPr/>
          <p:nvPr/>
        </p:nvSpPr>
        <p:spPr>
          <a:xfrm>
            <a:off x="6789103" y="4998096"/>
            <a:ext cx="65077" cy="698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84FFC8B-239F-4CC8-A336-62B738D6D083}"/>
              </a:ext>
            </a:extLst>
          </p:cNvPr>
          <p:cNvSpPr/>
          <p:nvPr/>
        </p:nvSpPr>
        <p:spPr>
          <a:xfrm>
            <a:off x="7037153" y="4991421"/>
            <a:ext cx="65077" cy="698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A3189C5-E5D9-4A4D-B0F3-C8D67A3E04A4}"/>
              </a:ext>
            </a:extLst>
          </p:cNvPr>
          <p:cNvSpPr/>
          <p:nvPr/>
        </p:nvSpPr>
        <p:spPr>
          <a:xfrm>
            <a:off x="7285203" y="4300278"/>
            <a:ext cx="65077" cy="698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465F048-09DB-4A42-B388-B9AD80D57D49}"/>
              </a:ext>
            </a:extLst>
          </p:cNvPr>
          <p:cNvSpPr/>
          <p:nvPr/>
        </p:nvSpPr>
        <p:spPr>
          <a:xfrm>
            <a:off x="7533253" y="5652212"/>
            <a:ext cx="65077" cy="698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75BC8DB-8609-4C0B-A322-713BA41193C2}"/>
              </a:ext>
            </a:extLst>
          </p:cNvPr>
          <p:cNvSpPr/>
          <p:nvPr/>
        </p:nvSpPr>
        <p:spPr>
          <a:xfrm>
            <a:off x="7781303" y="4558440"/>
            <a:ext cx="65077" cy="698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E5F56C5-B7F0-481F-9361-A27B098380A2}"/>
              </a:ext>
            </a:extLst>
          </p:cNvPr>
          <p:cNvSpPr/>
          <p:nvPr/>
        </p:nvSpPr>
        <p:spPr>
          <a:xfrm>
            <a:off x="8029353" y="4468908"/>
            <a:ext cx="65077" cy="698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032FF96-DBD6-462F-AC74-AC61499D0B7F}"/>
              </a:ext>
            </a:extLst>
          </p:cNvPr>
          <p:cNvSpPr/>
          <p:nvPr/>
        </p:nvSpPr>
        <p:spPr>
          <a:xfrm>
            <a:off x="8277403" y="4554265"/>
            <a:ext cx="65077" cy="698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BDD5FFD-BDB4-4D20-B223-CDC924E38EEE}"/>
              </a:ext>
            </a:extLst>
          </p:cNvPr>
          <p:cNvSpPr/>
          <p:nvPr/>
        </p:nvSpPr>
        <p:spPr>
          <a:xfrm>
            <a:off x="8525453" y="5468647"/>
            <a:ext cx="65077" cy="698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DAF2432-2D3C-4D78-A2A1-E3CC0E09C3F0}"/>
              </a:ext>
            </a:extLst>
          </p:cNvPr>
          <p:cNvSpPr/>
          <p:nvPr/>
        </p:nvSpPr>
        <p:spPr>
          <a:xfrm>
            <a:off x="8773503" y="5305497"/>
            <a:ext cx="65077" cy="698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07D4872-E198-4CBD-8CC7-25725F75F6A9}"/>
              </a:ext>
            </a:extLst>
          </p:cNvPr>
          <p:cNvSpPr/>
          <p:nvPr/>
        </p:nvSpPr>
        <p:spPr>
          <a:xfrm>
            <a:off x="9021553" y="5134326"/>
            <a:ext cx="65077" cy="698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2E4BD4A-B93D-4049-8ACE-B3B6EE863DB2}"/>
              </a:ext>
            </a:extLst>
          </p:cNvPr>
          <p:cNvSpPr/>
          <p:nvPr/>
        </p:nvSpPr>
        <p:spPr>
          <a:xfrm>
            <a:off x="9269603" y="5059171"/>
            <a:ext cx="65077" cy="698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9C30774-DF52-4DC4-B555-AA7DE7257EEB}"/>
              </a:ext>
            </a:extLst>
          </p:cNvPr>
          <p:cNvSpPr/>
          <p:nvPr/>
        </p:nvSpPr>
        <p:spPr>
          <a:xfrm>
            <a:off x="9517653" y="4993680"/>
            <a:ext cx="65077" cy="698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5C39175-37B6-4262-966F-DFC35443327C}"/>
              </a:ext>
            </a:extLst>
          </p:cNvPr>
          <p:cNvSpPr/>
          <p:nvPr/>
        </p:nvSpPr>
        <p:spPr>
          <a:xfrm>
            <a:off x="9765709" y="4993345"/>
            <a:ext cx="65077" cy="698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9845831-E0A7-4C0B-82D8-7CA550DD4AE4}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6606130" y="5033022"/>
            <a:ext cx="182973" cy="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CC026F1-EB20-481D-8B86-F62EC240EBDA}"/>
              </a:ext>
            </a:extLst>
          </p:cNvPr>
          <p:cNvCxnSpPr>
            <a:stCxn id="42" idx="6"/>
            <a:endCxn id="43" idx="2"/>
          </p:cNvCxnSpPr>
          <p:nvPr/>
        </p:nvCxnSpPr>
        <p:spPr>
          <a:xfrm flipV="1">
            <a:off x="6854180" y="5026347"/>
            <a:ext cx="182973" cy="6675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D0B1F91-0F9C-43E7-AE6E-F96E81335073}"/>
              </a:ext>
            </a:extLst>
          </p:cNvPr>
          <p:cNvCxnSpPr>
            <a:cxnSpLocks/>
            <a:stCxn id="43" idx="0"/>
            <a:endCxn id="44" idx="3"/>
          </p:cNvCxnSpPr>
          <p:nvPr/>
        </p:nvCxnSpPr>
        <p:spPr>
          <a:xfrm flipV="1">
            <a:off x="7069692" y="4359900"/>
            <a:ext cx="225041" cy="631521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CE3EEF0-BEA8-4BFF-9E4E-5E12AC9AB4F9}"/>
              </a:ext>
            </a:extLst>
          </p:cNvPr>
          <p:cNvCxnSpPr>
            <a:cxnSpLocks/>
            <a:stCxn id="44" idx="5"/>
            <a:endCxn id="45" idx="1"/>
          </p:cNvCxnSpPr>
          <p:nvPr/>
        </p:nvCxnSpPr>
        <p:spPr>
          <a:xfrm>
            <a:off x="7340750" y="4359900"/>
            <a:ext cx="202033" cy="1302541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B7524CD-016F-45DB-9605-C541374A2320}"/>
              </a:ext>
            </a:extLst>
          </p:cNvPr>
          <p:cNvCxnSpPr>
            <a:stCxn id="45" idx="7"/>
            <a:endCxn id="46" idx="3"/>
          </p:cNvCxnSpPr>
          <p:nvPr/>
        </p:nvCxnSpPr>
        <p:spPr>
          <a:xfrm flipV="1">
            <a:off x="7588800" y="4618062"/>
            <a:ext cx="202033" cy="1044379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9C3B63B-0C53-4436-B2A5-DB7378737D27}"/>
              </a:ext>
            </a:extLst>
          </p:cNvPr>
          <p:cNvCxnSpPr>
            <a:cxnSpLocks/>
            <a:stCxn id="46" idx="7"/>
            <a:endCxn id="47" idx="2"/>
          </p:cNvCxnSpPr>
          <p:nvPr/>
        </p:nvCxnSpPr>
        <p:spPr>
          <a:xfrm flipV="1">
            <a:off x="7836850" y="4503834"/>
            <a:ext cx="192503" cy="64835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F65E497-5CC8-4AB5-8B80-236D501848CE}"/>
              </a:ext>
            </a:extLst>
          </p:cNvPr>
          <p:cNvCxnSpPr>
            <a:cxnSpLocks/>
            <a:stCxn id="47" idx="6"/>
            <a:endCxn id="48" idx="1"/>
          </p:cNvCxnSpPr>
          <p:nvPr/>
        </p:nvCxnSpPr>
        <p:spPr>
          <a:xfrm>
            <a:off x="8094430" y="4503834"/>
            <a:ext cx="192503" cy="6066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0FE30A8-AACE-48FC-A0B9-0973B0849657}"/>
              </a:ext>
            </a:extLst>
          </p:cNvPr>
          <p:cNvCxnSpPr>
            <a:cxnSpLocks/>
            <a:stCxn id="48" idx="6"/>
            <a:endCxn id="49" idx="1"/>
          </p:cNvCxnSpPr>
          <p:nvPr/>
        </p:nvCxnSpPr>
        <p:spPr>
          <a:xfrm>
            <a:off x="8342480" y="4589191"/>
            <a:ext cx="192503" cy="889685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70C75F5-8BA7-4635-8AC6-6D0491E4F615}"/>
              </a:ext>
            </a:extLst>
          </p:cNvPr>
          <p:cNvCxnSpPr>
            <a:cxnSpLocks/>
            <a:stCxn id="49" idx="6"/>
            <a:endCxn id="50" idx="3"/>
          </p:cNvCxnSpPr>
          <p:nvPr/>
        </p:nvCxnSpPr>
        <p:spPr>
          <a:xfrm flipV="1">
            <a:off x="8590530" y="5365119"/>
            <a:ext cx="192503" cy="138454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76F79C1-AA99-473D-AACA-F8734784617E}"/>
              </a:ext>
            </a:extLst>
          </p:cNvPr>
          <p:cNvCxnSpPr>
            <a:cxnSpLocks/>
            <a:stCxn id="50" idx="7"/>
            <a:endCxn id="51" idx="3"/>
          </p:cNvCxnSpPr>
          <p:nvPr/>
        </p:nvCxnSpPr>
        <p:spPr>
          <a:xfrm flipV="1">
            <a:off x="8829050" y="5193948"/>
            <a:ext cx="202033" cy="121778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765EEA6-CB97-4E09-A078-DE1046D1B28A}"/>
              </a:ext>
            </a:extLst>
          </p:cNvPr>
          <p:cNvCxnSpPr>
            <a:cxnSpLocks/>
            <a:stCxn id="51" idx="6"/>
            <a:endCxn id="52" idx="2"/>
          </p:cNvCxnSpPr>
          <p:nvPr/>
        </p:nvCxnSpPr>
        <p:spPr>
          <a:xfrm flipV="1">
            <a:off x="9086630" y="5094097"/>
            <a:ext cx="182973" cy="75155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3546816-DE9D-45F3-A23C-414B1EE7B303}"/>
              </a:ext>
            </a:extLst>
          </p:cNvPr>
          <p:cNvCxnSpPr>
            <a:cxnSpLocks/>
            <a:stCxn id="52" idx="7"/>
            <a:endCxn id="53" idx="2"/>
          </p:cNvCxnSpPr>
          <p:nvPr/>
        </p:nvCxnSpPr>
        <p:spPr>
          <a:xfrm flipV="1">
            <a:off x="9325150" y="5028606"/>
            <a:ext cx="192503" cy="40794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70B7799-D2AB-48BA-AEA9-A4EAF2483784}"/>
              </a:ext>
            </a:extLst>
          </p:cNvPr>
          <p:cNvCxnSpPr>
            <a:cxnSpLocks/>
            <a:stCxn id="53" idx="6"/>
            <a:endCxn id="54" idx="2"/>
          </p:cNvCxnSpPr>
          <p:nvPr/>
        </p:nvCxnSpPr>
        <p:spPr>
          <a:xfrm flipV="1">
            <a:off x="9582730" y="5028271"/>
            <a:ext cx="182979" cy="335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51B5F30-7243-437E-B3CC-79AE6C50B59E}"/>
                  </a:ext>
                </a:extLst>
              </p:cNvPr>
              <p:cNvSpPr txBox="1"/>
              <p:nvPr/>
            </p:nvSpPr>
            <p:spPr>
              <a:xfrm>
                <a:off x="6640780" y="5028852"/>
                <a:ext cx="4480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51B5F30-7243-437E-B3CC-79AE6C50B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780" y="5028852"/>
                <a:ext cx="44804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6F9E596-5FA0-4B0C-BF6B-70B6EA04737D}"/>
                  </a:ext>
                </a:extLst>
              </p:cNvPr>
              <p:cNvSpPr txBox="1"/>
              <p:nvPr/>
            </p:nvSpPr>
            <p:spPr>
              <a:xfrm>
                <a:off x="6894352" y="5028852"/>
                <a:ext cx="4480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6F9E596-5FA0-4B0C-BF6B-70B6EA047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352" y="5028852"/>
                <a:ext cx="44804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67A0BC9-9092-4DCF-BA0A-3E41517E95D5}"/>
                  </a:ext>
                </a:extLst>
              </p:cNvPr>
              <p:cNvSpPr txBox="1"/>
              <p:nvPr/>
            </p:nvSpPr>
            <p:spPr>
              <a:xfrm>
                <a:off x="9823708" y="5028852"/>
                <a:ext cx="4480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67A0BC9-9092-4DCF-BA0A-3E41517E9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3708" y="5028852"/>
                <a:ext cx="448043" cy="369332"/>
              </a:xfrm>
              <a:prstGeom prst="rect">
                <a:avLst/>
              </a:prstGeom>
              <a:blipFill>
                <a:blip r:embed="rId10"/>
                <a:stretch>
                  <a:fillRect r="-27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AC42B87-7E6E-478D-BEAC-264C8B558B3E}"/>
                  </a:ext>
                </a:extLst>
              </p:cNvPr>
              <p:cNvSpPr txBox="1"/>
              <p:nvPr/>
            </p:nvSpPr>
            <p:spPr>
              <a:xfrm>
                <a:off x="7108226" y="3226594"/>
                <a:ext cx="4480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AC42B87-7E6E-478D-BEAC-264C8B558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226" y="3226594"/>
                <a:ext cx="44804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25E7F6B-4CBC-47B6-AA76-AA1BF96B0677}"/>
                  </a:ext>
                </a:extLst>
              </p:cNvPr>
              <p:cNvSpPr txBox="1"/>
              <p:nvPr/>
            </p:nvSpPr>
            <p:spPr>
              <a:xfrm>
                <a:off x="7108226" y="5028852"/>
                <a:ext cx="4480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25E7F6B-4CBC-47B6-AA76-AA1BF96B0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226" y="5028852"/>
                <a:ext cx="44804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Oval 74">
            <a:extLst>
              <a:ext uri="{FF2B5EF4-FFF2-40B4-BE49-F238E27FC236}">
                <a16:creationId xmlns:a16="http://schemas.microsoft.com/office/drawing/2014/main" id="{1F6C1BF8-C0C1-429B-A077-BF43B95B3A3E}"/>
              </a:ext>
            </a:extLst>
          </p:cNvPr>
          <p:cNvSpPr/>
          <p:nvPr/>
        </p:nvSpPr>
        <p:spPr>
          <a:xfrm>
            <a:off x="10025529" y="4993345"/>
            <a:ext cx="65077" cy="698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CEABF8E-B236-43B0-A7E9-1DAD93EF5394}"/>
              </a:ext>
            </a:extLst>
          </p:cNvPr>
          <p:cNvCxnSpPr>
            <a:cxnSpLocks/>
          </p:cNvCxnSpPr>
          <p:nvPr/>
        </p:nvCxnSpPr>
        <p:spPr>
          <a:xfrm>
            <a:off x="7565791" y="2409946"/>
            <a:ext cx="0" cy="345585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4833727-4694-424A-BA74-0652861FCAAB}"/>
              </a:ext>
            </a:extLst>
          </p:cNvPr>
          <p:cNvCxnSpPr>
            <a:cxnSpLocks/>
          </p:cNvCxnSpPr>
          <p:nvPr/>
        </p:nvCxnSpPr>
        <p:spPr>
          <a:xfrm>
            <a:off x="7313890" y="2409946"/>
            <a:ext cx="0" cy="345585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6A118A9-01FE-40F7-8BEA-D6A91F98FFC8}"/>
              </a:ext>
            </a:extLst>
          </p:cNvPr>
          <p:cNvCxnSpPr>
            <a:cxnSpLocks/>
          </p:cNvCxnSpPr>
          <p:nvPr/>
        </p:nvCxnSpPr>
        <p:spPr>
          <a:xfrm>
            <a:off x="7809401" y="2409946"/>
            <a:ext cx="0" cy="345585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C8840FD-2EDD-4B97-AE90-DAB5195B942F}"/>
              </a:ext>
            </a:extLst>
          </p:cNvPr>
          <p:cNvCxnSpPr>
            <a:cxnSpLocks/>
          </p:cNvCxnSpPr>
          <p:nvPr/>
        </p:nvCxnSpPr>
        <p:spPr>
          <a:xfrm>
            <a:off x="7068381" y="2409946"/>
            <a:ext cx="0" cy="345585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811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FCC0D-D144-4E30-A9AE-AC6EB7B39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Seismic waves: Statistical features</a:t>
            </a:r>
            <a:endParaRPr lang="en-GB" dirty="0"/>
          </a:p>
        </p:txBody>
      </p:sp>
      <p:pic>
        <p:nvPicPr>
          <p:cNvPr id="3" name="Picture 2" descr="Seismogram from the Magnitude 2.9 ML Dumfries Earthquake of 13 May 2001">
            <a:extLst>
              <a:ext uri="{FF2B5EF4-FFF2-40B4-BE49-F238E27FC236}">
                <a16:creationId xmlns:a16="http://schemas.microsoft.com/office/drawing/2014/main" id="{71CEA59E-D052-4423-82DF-619F370E77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01" r="16715"/>
          <a:stretch/>
        </p:blipFill>
        <p:spPr bwMode="auto">
          <a:xfrm>
            <a:off x="938879" y="2361436"/>
            <a:ext cx="5031762" cy="2298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016826-50DC-43DC-9CB8-4B860D784926}"/>
              </a:ext>
            </a:extLst>
          </p:cNvPr>
          <p:cNvCxnSpPr/>
          <p:nvPr/>
        </p:nvCxnSpPr>
        <p:spPr>
          <a:xfrm>
            <a:off x="6748943" y="3111081"/>
            <a:ext cx="460485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72D711B-CED9-4BE6-B982-EA6C8F9A82C5}"/>
              </a:ext>
            </a:extLst>
          </p:cNvPr>
          <p:cNvCxnSpPr>
            <a:cxnSpLocks/>
          </p:cNvCxnSpPr>
          <p:nvPr/>
        </p:nvCxnSpPr>
        <p:spPr>
          <a:xfrm flipV="1">
            <a:off x="6821648" y="2139936"/>
            <a:ext cx="0" cy="22713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C8840FD-2EDD-4B97-AE90-DAB5195B942F}"/>
              </a:ext>
            </a:extLst>
          </p:cNvPr>
          <p:cNvCxnSpPr>
            <a:cxnSpLocks/>
          </p:cNvCxnSpPr>
          <p:nvPr/>
        </p:nvCxnSpPr>
        <p:spPr>
          <a:xfrm>
            <a:off x="2531056" y="2627125"/>
            <a:ext cx="4664874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6E996FE-1253-4288-8B65-76A4807BFBC4}"/>
              </a:ext>
            </a:extLst>
          </p:cNvPr>
          <p:cNvCxnSpPr>
            <a:cxnSpLocks/>
          </p:cNvCxnSpPr>
          <p:nvPr/>
        </p:nvCxnSpPr>
        <p:spPr>
          <a:xfrm>
            <a:off x="2531056" y="3557428"/>
            <a:ext cx="4664874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485D67F-B498-4703-B5B6-F9801ECD7DDB}"/>
                  </a:ext>
                </a:extLst>
              </p:cNvPr>
              <p:cNvSpPr txBox="1"/>
              <p:nvPr/>
            </p:nvSpPr>
            <p:spPr>
              <a:xfrm>
                <a:off x="7224613" y="2442459"/>
                <a:ext cx="4480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485D67F-B498-4703-B5B6-F9801ECD7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4613" y="2442459"/>
                <a:ext cx="44804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A7B3095-4369-466D-8544-54705E6D9854}"/>
                  </a:ext>
                </a:extLst>
              </p:cNvPr>
              <p:cNvSpPr txBox="1"/>
              <p:nvPr/>
            </p:nvSpPr>
            <p:spPr>
              <a:xfrm>
                <a:off x="7224613" y="2664735"/>
                <a:ext cx="4480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A7B3095-4369-466D-8544-54705E6D9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4613" y="2664735"/>
                <a:ext cx="44804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65C6197-C61C-4668-89E0-BE7E17E05D53}"/>
              </a:ext>
            </a:extLst>
          </p:cNvPr>
          <p:cNvCxnSpPr>
            <a:cxnSpLocks/>
          </p:cNvCxnSpPr>
          <p:nvPr/>
        </p:nvCxnSpPr>
        <p:spPr>
          <a:xfrm>
            <a:off x="2531056" y="2880426"/>
            <a:ext cx="4664874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6199D05-243D-4122-A474-39BF85C6B19D}"/>
                  </a:ext>
                </a:extLst>
              </p:cNvPr>
              <p:cNvSpPr txBox="1"/>
              <p:nvPr/>
            </p:nvSpPr>
            <p:spPr>
              <a:xfrm>
                <a:off x="7224613" y="3080055"/>
                <a:ext cx="4480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6199D05-243D-4122-A474-39BF85C6B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4613" y="3080055"/>
                <a:ext cx="44804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3ACFE2C7-982B-4E91-9F9A-E4D7DC9F4B1B}"/>
              </a:ext>
            </a:extLst>
          </p:cNvPr>
          <p:cNvCxnSpPr>
            <a:cxnSpLocks/>
          </p:cNvCxnSpPr>
          <p:nvPr/>
        </p:nvCxnSpPr>
        <p:spPr>
          <a:xfrm>
            <a:off x="2531056" y="3295746"/>
            <a:ext cx="4664874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742186EB-DCAD-436D-847C-7DBDDE43B8FC}"/>
                  </a:ext>
                </a:extLst>
              </p:cNvPr>
              <p:cNvSpPr txBox="1"/>
              <p:nvPr/>
            </p:nvSpPr>
            <p:spPr>
              <a:xfrm>
                <a:off x="7224613" y="3372762"/>
                <a:ext cx="4480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742186EB-DCAD-436D-847C-7DBDDE43B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4613" y="3372762"/>
                <a:ext cx="44804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26D4A315-E7D8-4E25-8EA4-109E85B2F5BC}"/>
              </a:ext>
            </a:extLst>
          </p:cNvPr>
          <p:cNvSpPr txBox="1"/>
          <p:nvPr/>
        </p:nvSpPr>
        <p:spPr>
          <a:xfrm>
            <a:off x="7224613" y="4293703"/>
            <a:ext cx="38276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Statistical features do not depends on time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8407389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72B9B-B182-4DE9-B292-DB5D0884E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n_estimators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5F5703-C363-4340-BFB5-F4918E675FF7}"/>
              </a:ext>
            </a:extLst>
          </p:cNvPr>
          <p:cNvSpPr txBox="1"/>
          <p:nvPr/>
        </p:nvSpPr>
        <p:spPr>
          <a:xfrm>
            <a:off x="99390" y="6353943"/>
            <a:ext cx="7333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A Beginner’s Guide to Random Forest Hyperparameter Tuning, by SHAROON SAXENA, from Analytics Vidhya, </a:t>
            </a:r>
            <a:r>
              <a:rPr lang="en-GB" sz="1200" dirty="0">
                <a:hlinkClick r:id="rId2"/>
              </a:rPr>
              <a:t>https://www.analyticsvidhya.com/blog/2020/03/</a:t>
            </a:r>
            <a:r>
              <a:rPr lang="en-GB" sz="1200">
                <a:hlinkClick r:id="rId2"/>
              </a:rPr>
              <a:t>beginners-guide-random-forest-hyperparameter-tuning/</a:t>
            </a:r>
            <a:r>
              <a:rPr lang="en-GB" sz="1200"/>
              <a:t> 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ACB5AF-4C52-479E-9C5F-C61EC9D92F22}"/>
                  </a:ext>
                </a:extLst>
              </p:cNvPr>
              <p:cNvSpPr txBox="1"/>
              <p:nvPr/>
            </p:nvSpPr>
            <p:spPr>
              <a:xfrm>
                <a:off x="7281406" y="6238710"/>
                <a:ext cx="2928750" cy="5305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1=2×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ACB5AF-4C52-479E-9C5F-C61EC9D92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1406" y="6238710"/>
                <a:ext cx="2928750" cy="5305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 descr="random forest hyperparameter">
            <a:extLst>
              <a:ext uri="{FF2B5EF4-FFF2-40B4-BE49-F238E27FC236}">
                <a16:creationId xmlns:a16="http://schemas.microsoft.com/office/drawing/2014/main" id="{3F7C15EE-5D61-46EF-9031-6437704D7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4454" y="1610139"/>
            <a:ext cx="6760423" cy="4051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Tree planting holiday">
            <a:extLst>
              <a:ext uri="{FF2B5EF4-FFF2-40B4-BE49-F238E27FC236}">
                <a16:creationId xmlns:a16="http://schemas.microsoft.com/office/drawing/2014/main" id="{B7096BA5-12A9-4978-9657-D751D4F68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831" y="2401126"/>
            <a:ext cx="3416948" cy="2280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24395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72B9B-B182-4DE9-B292-DB5D0884E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max_depth</a:t>
            </a:r>
            <a:endParaRPr lang="en-GB" dirty="0"/>
          </a:p>
        </p:txBody>
      </p:sp>
      <p:pic>
        <p:nvPicPr>
          <p:cNvPr id="2050" name="Picture 2" descr="random forest hyperparameter">
            <a:extLst>
              <a:ext uri="{FF2B5EF4-FFF2-40B4-BE49-F238E27FC236}">
                <a16:creationId xmlns:a16="http://schemas.microsoft.com/office/drawing/2014/main" id="{BDCB3167-6B79-4F88-A77C-7B1E728FF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15" y="1844702"/>
            <a:ext cx="5888793" cy="3955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5F5703-C363-4340-BFB5-F4918E675FF7}"/>
              </a:ext>
            </a:extLst>
          </p:cNvPr>
          <p:cNvSpPr txBox="1"/>
          <p:nvPr/>
        </p:nvSpPr>
        <p:spPr>
          <a:xfrm>
            <a:off x="99390" y="6353943"/>
            <a:ext cx="7333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A Beginner’s Guide to Random Forest Hyperparameter Tuning, by SHAROON SAXENA, from Analytics Vidhya, </a:t>
            </a:r>
            <a:r>
              <a:rPr lang="en-GB" sz="1200" dirty="0">
                <a:hlinkClick r:id="rId3"/>
              </a:rPr>
              <a:t>https://www.analyticsvidhya.com/blog/2020/03/beginners-guide-random-forest-hyperparameter-tuning/</a:t>
            </a:r>
            <a:r>
              <a:rPr lang="en-GB" sz="1200" dirty="0"/>
              <a:t> </a:t>
            </a:r>
          </a:p>
        </p:txBody>
      </p:sp>
      <p:pic>
        <p:nvPicPr>
          <p:cNvPr id="2052" name="Picture 4" descr="Random Forest Hyperparameter Tuning">
            <a:extLst>
              <a:ext uri="{FF2B5EF4-FFF2-40B4-BE49-F238E27FC236}">
                <a16:creationId xmlns:a16="http://schemas.microsoft.com/office/drawing/2014/main" id="{21419BE2-DE87-4DCE-80C9-5B62CAF5B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5074" y="1821274"/>
            <a:ext cx="4391086" cy="4238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ACB5AF-4C52-479E-9C5F-C61EC9D92F22}"/>
                  </a:ext>
                </a:extLst>
              </p:cNvPr>
              <p:cNvSpPr txBox="1"/>
              <p:nvPr/>
            </p:nvSpPr>
            <p:spPr>
              <a:xfrm>
                <a:off x="7281406" y="6238710"/>
                <a:ext cx="2928750" cy="5305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1=2×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ACB5AF-4C52-479E-9C5F-C61EC9D92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1406" y="6238710"/>
                <a:ext cx="2928750" cy="5305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07295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72B9B-B182-4DE9-B292-DB5D0884E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min_sample_split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5F5703-C363-4340-BFB5-F4918E675FF7}"/>
              </a:ext>
            </a:extLst>
          </p:cNvPr>
          <p:cNvSpPr txBox="1"/>
          <p:nvPr/>
        </p:nvSpPr>
        <p:spPr>
          <a:xfrm>
            <a:off x="99390" y="6353943"/>
            <a:ext cx="7333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A Beginner’s Guide to Random Forest Hyperparameter Tuning, by SHAROON SAXENA, from Analytics Vidhya, </a:t>
            </a:r>
            <a:r>
              <a:rPr lang="en-GB" sz="1200" dirty="0">
                <a:hlinkClick r:id="rId2"/>
              </a:rPr>
              <a:t>https://www.analyticsvidhya.com/blog/2020/03/beginners-guide-random-forest-hyperparameter-tuning/</a:t>
            </a:r>
            <a:r>
              <a:rPr lang="en-GB" sz="12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ACB5AF-4C52-479E-9C5F-C61EC9D92F22}"/>
                  </a:ext>
                </a:extLst>
              </p:cNvPr>
              <p:cNvSpPr txBox="1"/>
              <p:nvPr/>
            </p:nvSpPr>
            <p:spPr>
              <a:xfrm>
                <a:off x="7281406" y="6238710"/>
                <a:ext cx="2928750" cy="5305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1=2×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ACB5AF-4C52-479E-9C5F-C61EC9D92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1406" y="6238710"/>
                <a:ext cx="2928750" cy="5305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random forest hyperparameter">
            <a:extLst>
              <a:ext uri="{FF2B5EF4-FFF2-40B4-BE49-F238E27FC236}">
                <a16:creationId xmlns:a16="http://schemas.microsoft.com/office/drawing/2014/main" id="{385608B6-6B52-4836-907E-EF6DE3BBE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303369"/>
            <a:ext cx="8408504" cy="2864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andom forest hyperparameter">
            <a:extLst>
              <a:ext uri="{FF2B5EF4-FFF2-40B4-BE49-F238E27FC236}">
                <a16:creationId xmlns:a16="http://schemas.microsoft.com/office/drawing/2014/main" id="{00ACCB91-0A8F-499B-8D1F-C92402507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9604" y="1784651"/>
            <a:ext cx="3821104" cy="3780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38704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72B9B-B182-4DE9-B292-DB5D0884E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min_samples_leaf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5F5703-C363-4340-BFB5-F4918E675FF7}"/>
              </a:ext>
            </a:extLst>
          </p:cNvPr>
          <p:cNvSpPr txBox="1"/>
          <p:nvPr/>
        </p:nvSpPr>
        <p:spPr>
          <a:xfrm>
            <a:off x="99390" y="6353943"/>
            <a:ext cx="7333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A Beginner’s Guide to Random Forest Hyperparameter Tuning, by SHAROON SAXENA, from Analytics Vidhya, </a:t>
            </a:r>
            <a:r>
              <a:rPr lang="en-GB" sz="1200" dirty="0">
                <a:hlinkClick r:id="rId2"/>
              </a:rPr>
              <a:t>https://www.analyticsvidhya.com/blog/2020/03/beginners-guide-random-forest-hyperparameter-tuning/</a:t>
            </a:r>
            <a:r>
              <a:rPr lang="en-GB" sz="12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ACB5AF-4C52-479E-9C5F-C61EC9D92F22}"/>
                  </a:ext>
                </a:extLst>
              </p:cNvPr>
              <p:cNvSpPr txBox="1"/>
              <p:nvPr/>
            </p:nvSpPr>
            <p:spPr>
              <a:xfrm>
                <a:off x="7281406" y="6238710"/>
                <a:ext cx="2928750" cy="5305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1=2×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ACB5AF-4C52-479E-9C5F-C61EC9D92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1406" y="6238710"/>
                <a:ext cx="2928750" cy="5305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random forest hyperparameter">
            <a:extLst>
              <a:ext uri="{FF2B5EF4-FFF2-40B4-BE49-F238E27FC236}">
                <a16:creationId xmlns:a16="http://schemas.microsoft.com/office/drawing/2014/main" id="{4C69B51F-C05B-420A-96F9-E0B5A5576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29" y="2423737"/>
            <a:ext cx="8678849" cy="2159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andom forest hyperparameter">
            <a:extLst>
              <a:ext uri="{FF2B5EF4-FFF2-40B4-BE49-F238E27FC236}">
                <a16:creationId xmlns:a16="http://schemas.microsoft.com/office/drawing/2014/main" id="{A9F749F0-86F2-4E83-87B6-E66E93355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9465" y="1773140"/>
            <a:ext cx="3513275" cy="3399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35993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84A6A-6072-4DDA-9A5D-3FCB3531C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cross-validation</a:t>
            </a:r>
            <a:endParaRPr lang="en-GB" dirty="0"/>
          </a:p>
        </p:txBody>
      </p:sp>
      <p:pic>
        <p:nvPicPr>
          <p:cNvPr id="6146" name="Picture 2" descr="Image for post">
            <a:extLst>
              <a:ext uri="{FF2B5EF4-FFF2-40B4-BE49-F238E27FC236}">
                <a16:creationId xmlns:a16="http://schemas.microsoft.com/office/drawing/2014/main" id="{9EF4915E-8845-491A-B938-D10F66C943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510" y="4246658"/>
            <a:ext cx="6816972" cy="2058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9DF878E6-E29A-4DBF-B5A8-9687D1366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4233" y="1356922"/>
            <a:ext cx="4981492" cy="2683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7377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3500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B8D22-195C-41E1-84EE-BCF1B76A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 (Group A)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C07A6-17B7-423C-9D0B-BACCA0B16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file </a:t>
            </a:r>
            <a:r>
              <a:rPr lang="en-GB" dirty="0">
                <a:latin typeface="Consolas" panose="020B0609020204030204" pitchFamily="49" charset="0"/>
              </a:rPr>
              <a:t>exp10_1940-2021.zip</a:t>
            </a:r>
            <a:r>
              <a:rPr lang="en-GB" dirty="0"/>
              <a:t> contains the experimental data from </a:t>
            </a:r>
            <a:r>
              <a:rPr lang="en-GB" dirty="0" err="1"/>
              <a:t>Rouet</a:t>
            </a:r>
            <a:r>
              <a:rPr lang="en-GB" dirty="0"/>
              <a:t>-Leduc (2017)*, split up into 100 files. </a:t>
            </a:r>
          </a:p>
          <a:p>
            <a:r>
              <a:rPr lang="en-GB" dirty="0"/>
              <a:t>The Python file </a:t>
            </a:r>
            <a:r>
              <a:rPr lang="en-GB" dirty="0">
                <a:latin typeface="Consolas" panose="020B0609020204030204" pitchFamily="49" charset="0"/>
              </a:rPr>
              <a:t>ReadTDMS.py</a:t>
            </a:r>
            <a:r>
              <a:rPr lang="en-GB" dirty="0"/>
              <a:t> contains a class called </a:t>
            </a:r>
            <a:r>
              <a:rPr lang="en-GB" dirty="0" err="1">
                <a:latin typeface="Consolas" panose="020B0609020204030204" pitchFamily="49" charset="0"/>
              </a:rPr>
              <a:t>AcousticFileReader</a:t>
            </a:r>
            <a:r>
              <a:rPr lang="en-GB" dirty="0"/>
              <a:t> that can read these files into a single </a:t>
            </a:r>
            <a:r>
              <a:rPr lang="en-GB" dirty="0" err="1"/>
              <a:t>numpy</a:t>
            </a:r>
            <a:r>
              <a:rPr lang="en-GB" dirty="0"/>
              <a:t> array (</a:t>
            </a:r>
            <a:r>
              <a:rPr lang="en-GB" dirty="0" err="1">
                <a:latin typeface="Consolas" panose="020B0609020204030204" pitchFamily="49" charset="0"/>
              </a:rPr>
              <a:t>getData</a:t>
            </a:r>
            <a:r>
              <a:rPr lang="en-GB" dirty="0"/>
              <a:t>) or a Pandas </a:t>
            </a:r>
            <a:r>
              <a:rPr lang="en-GB" dirty="0" err="1"/>
              <a:t>DataFrame</a:t>
            </a:r>
            <a:r>
              <a:rPr lang="en-GB" dirty="0"/>
              <a:t> (</a:t>
            </a:r>
            <a:r>
              <a:rPr lang="en-GB" dirty="0" err="1">
                <a:latin typeface="Consolas" panose="020B0609020204030204" pitchFamily="49" charset="0"/>
              </a:rPr>
              <a:t>getDataFrame</a:t>
            </a:r>
            <a:r>
              <a:rPr lang="en-GB" dirty="0"/>
              <a:t>). </a:t>
            </a:r>
          </a:p>
          <a:p>
            <a:r>
              <a:rPr lang="en-GB" dirty="0"/>
              <a:t>The data contains three columns: Time, Acoustic, and Shear. The Acoustic signal is analogous to a seismic signal, the shear is analogous to the displacement of a tectonic plate during an earthquake. </a:t>
            </a:r>
          </a:p>
          <a:p>
            <a:pPr marL="0" indent="0">
              <a:buNone/>
            </a:pPr>
            <a:r>
              <a:rPr lang="en-GB" sz="1800" dirty="0"/>
              <a:t>*</a:t>
            </a:r>
            <a:r>
              <a:rPr lang="en-GB" sz="1800" dirty="0" err="1"/>
              <a:t>Rouet</a:t>
            </a:r>
            <a:r>
              <a:rPr lang="en-GB" sz="1800" dirty="0"/>
              <a:t>-Leduc, B., Hulbert, C., Lubbers, N., Barros, K., Humphreys, C. J., &amp; Johnson, P. A. 2017. “Machine Learning Predicts Laboratory Earthquakes.” </a:t>
            </a:r>
            <a:r>
              <a:rPr lang="en-GB" sz="1800" i="1" dirty="0"/>
              <a:t>Geophysical Research Letters</a:t>
            </a:r>
            <a:r>
              <a:rPr lang="en-GB" sz="1800" dirty="0"/>
              <a:t> 44 (18): 9276–82. </a:t>
            </a:r>
            <a:r>
              <a:rPr lang="en-GB" sz="1800" dirty="0">
                <a:hlinkClick r:id="rId2"/>
              </a:rPr>
              <a:t>https://doi.org/10.1002/2017GL074677</a:t>
            </a:r>
            <a:r>
              <a:rPr lang="en-GB" sz="1800" dirty="0"/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439195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3500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B8D22-195C-41E1-84EE-BCF1B76A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 (Group A)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FCB5DC-4C7C-46DD-BF25-035B449F1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Extract the data files, split them into training and validation set, and use the provided class to load the data.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Split the data into 1-second windows. The data is sampled at 330 kHz, i.e. each window contains 330 000 data points.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Calculate the mean </a:t>
            </a:r>
            <a:r>
              <a:rPr lang="en-GB" u="sng" dirty="0"/>
              <a:t>Shear</a:t>
            </a:r>
            <a:r>
              <a:rPr lang="en-GB" dirty="0"/>
              <a:t> for each window and use it to identify earthquakes: The shear slowly builds up, but at some point it rapidly drops – this is an "earthquake".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For all the other windows, calculate the "time-to-failure" i.e. the number of seconds until the next earthquake. Use time-to-failure as the label.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Finally, remove all the windows that contain earthquakes (i.e. time-to-failure=0) from the dataset, since it does not make sense to predict earthquakes the moment they are happening.</a:t>
            </a:r>
          </a:p>
        </p:txBody>
      </p:sp>
    </p:spTree>
    <p:extLst>
      <p:ext uri="{BB962C8B-B14F-4D97-AF65-F5344CB8AC3E}">
        <p14:creationId xmlns:p14="http://schemas.microsoft.com/office/powerpoint/2010/main" val="22806379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0"/>
                <a:lumOff val="100000"/>
              </a:schemeClr>
            </a:gs>
            <a:gs pos="3500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B8D22-195C-41E1-84EE-BCF1B76A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 (Group A)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FCB5DC-4C7C-46DD-BF25-035B449F1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For each window, calculate at least </a:t>
            </a:r>
            <a:r>
              <a:rPr lang="en-US" b="1" dirty="0"/>
              <a:t>four</a:t>
            </a:r>
            <a:r>
              <a:rPr lang="en-US" dirty="0"/>
              <a:t> out of the following statistical quantities and save them in a csv file: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Mean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Variance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Skewedness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Kurtosis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Minimum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Maximum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percentile (0.01 quantile)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5</a:t>
            </a:r>
            <a:r>
              <a:rPr lang="en-US" baseline="30000" dirty="0"/>
              <a:t>th</a:t>
            </a:r>
            <a:r>
              <a:rPr lang="en-US" dirty="0"/>
              <a:t> percentile (0.05 quantile)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5</a:t>
            </a:r>
            <a:r>
              <a:rPr lang="en-US" baseline="30000" dirty="0"/>
              <a:t>th</a:t>
            </a:r>
            <a:r>
              <a:rPr lang="en-US" dirty="0"/>
              <a:t> percentile (0.10 quantile)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90</a:t>
            </a:r>
            <a:r>
              <a:rPr lang="en-US" baseline="30000" dirty="0"/>
              <a:t>th</a:t>
            </a:r>
            <a:r>
              <a:rPr lang="en-US" dirty="0"/>
              <a:t> percentile (0.90 quantile)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95</a:t>
            </a:r>
            <a:r>
              <a:rPr lang="en-US" baseline="30000" dirty="0"/>
              <a:t>th</a:t>
            </a:r>
            <a:r>
              <a:rPr lang="en-US" dirty="0"/>
              <a:t> percentile (0.95 quantile)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99</a:t>
            </a:r>
            <a:r>
              <a:rPr lang="en-US" baseline="30000" dirty="0"/>
              <a:t>th</a:t>
            </a:r>
            <a:r>
              <a:rPr lang="en-US" dirty="0"/>
              <a:t> percentile (0.99 quantile) The number of data points &gt; 1e-9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number of data points &gt; 1e-8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number of data points &gt; 1e-7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number of data points &lt; -1e-7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number of data points &lt; -1e-8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number of data points &lt; -1e-9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Bonus: It is possible to do all these tasks with Pandas </a:t>
            </a:r>
            <a:r>
              <a:rPr lang="en-US" u="sng" dirty="0"/>
              <a:t>without using any loops</a:t>
            </a:r>
            <a:r>
              <a:rPr lang="en-US" dirty="0"/>
              <a:t>. The functions </a:t>
            </a:r>
            <a:r>
              <a:rPr lang="en-US" dirty="0" err="1"/>
              <a:t>groupby</a:t>
            </a:r>
            <a:r>
              <a:rPr lang="en-US" dirty="0"/>
              <a:t>, </a:t>
            </a:r>
            <a:r>
              <a:rPr lang="en-US" dirty="0" err="1"/>
              <a:t>cumsum</a:t>
            </a:r>
            <a:r>
              <a:rPr lang="en-US" dirty="0"/>
              <a:t>, </a:t>
            </a:r>
            <a:r>
              <a:rPr lang="en-US" dirty="0" err="1"/>
              <a:t>cumcount</a:t>
            </a:r>
            <a:r>
              <a:rPr lang="en-US" dirty="0"/>
              <a:t>, and aggregate may be helpful.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4908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0"/>
                <a:lumOff val="100000"/>
              </a:schemeClr>
            </a:gs>
            <a:gs pos="3500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B8D22-195C-41E1-84EE-BCF1B76A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 (Group A)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FCB5DC-4C7C-46DD-BF25-035B449F1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Train a random forest to predict time-to-failure using the statistical features.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Plot predicted and actual times-to-failure over time (like </a:t>
            </a:r>
            <a:r>
              <a:rPr lang="en-US" dirty="0" err="1"/>
              <a:t>Rouet</a:t>
            </a:r>
            <a:r>
              <a:rPr lang="en-US" dirty="0"/>
              <a:t>-Leduc et al., 2017)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Validate it: plot the predicted vs actual times-to-failure. Does there seem to be a strong correlation?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Print or plot at least one tree (estimator), and explain (roughly) what this tree does.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Bonus: Test which hyper-parameters (</a:t>
            </a:r>
            <a:r>
              <a:rPr lang="en-US" dirty="0" err="1"/>
              <a:t>n_estimators</a:t>
            </a:r>
            <a:r>
              <a:rPr lang="en-US" dirty="0"/>
              <a:t>, </a:t>
            </a:r>
            <a:r>
              <a:rPr lang="en-US" dirty="0" err="1"/>
              <a:t>max_split</a:t>
            </a:r>
            <a:r>
              <a:rPr lang="en-US" dirty="0"/>
              <a:t>, </a:t>
            </a:r>
            <a:r>
              <a:rPr lang="en-US" dirty="0" err="1"/>
              <a:t>min_sample_split</a:t>
            </a:r>
            <a:r>
              <a:rPr lang="en-US" dirty="0"/>
              <a:t>, </a:t>
            </a:r>
            <a:r>
              <a:rPr lang="en-US" dirty="0" err="1"/>
              <a:t>min_samples_leaf</a:t>
            </a:r>
            <a:r>
              <a:rPr lang="en-US" dirty="0"/>
              <a:t>) yield the best parameters.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8473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B8D22-195C-41E1-84EE-BCF1B76A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 (Group B)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C07A6-17B7-423C-9D0B-BACCA0B16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file </a:t>
            </a:r>
            <a:r>
              <a:rPr lang="en-GB" dirty="0">
                <a:latin typeface="Consolas" panose="020B0609020204030204" pitchFamily="49" charset="0"/>
              </a:rPr>
              <a:t>exp10_1940-2021.zip</a:t>
            </a:r>
            <a:r>
              <a:rPr lang="en-GB" dirty="0"/>
              <a:t> contains the experimental data from </a:t>
            </a:r>
            <a:r>
              <a:rPr lang="en-GB" dirty="0" err="1"/>
              <a:t>Rouet</a:t>
            </a:r>
            <a:r>
              <a:rPr lang="en-GB" dirty="0"/>
              <a:t>-Leduc (2017)*, split up into 100 files. </a:t>
            </a:r>
          </a:p>
          <a:p>
            <a:r>
              <a:rPr lang="en-GB" dirty="0"/>
              <a:t>The Python file </a:t>
            </a:r>
            <a:r>
              <a:rPr lang="en-GB" dirty="0">
                <a:latin typeface="Consolas" panose="020B0609020204030204" pitchFamily="49" charset="0"/>
              </a:rPr>
              <a:t>ReadTDMS.py</a:t>
            </a:r>
            <a:r>
              <a:rPr lang="en-GB" dirty="0"/>
              <a:t> contains a class called </a:t>
            </a:r>
            <a:r>
              <a:rPr lang="en-GB" dirty="0" err="1">
                <a:latin typeface="Consolas" panose="020B0609020204030204" pitchFamily="49" charset="0"/>
              </a:rPr>
              <a:t>AcousticFileReader</a:t>
            </a:r>
            <a:r>
              <a:rPr lang="en-GB" dirty="0"/>
              <a:t> that can read these files into a single </a:t>
            </a:r>
            <a:r>
              <a:rPr lang="en-GB" dirty="0" err="1"/>
              <a:t>numpy</a:t>
            </a:r>
            <a:r>
              <a:rPr lang="en-GB" dirty="0"/>
              <a:t> array (</a:t>
            </a:r>
            <a:r>
              <a:rPr lang="en-GB" dirty="0" err="1">
                <a:latin typeface="Consolas" panose="020B0609020204030204" pitchFamily="49" charset="0"/>
              </a:rPr>
              <a:t>getData</a:t>
            </a:r>
            <a:r>
              <a:rPr lang="en-GB" dirty="0"/>
              <a:t>) or a Pandas </a:t>
            </a:r>
            <a:r>
              <a:rPr lang="en-GB" dirty="0" err="1"/>
              <a:t>DataFrame</a:t>
            </a:r>
            <a:r>
              <a:rPr lang="en-GB" dirty="0"/>
              <a:t> (</a:t>
            </a:r>
            <a:r>
              <a:rPr lang="en-GB" dirty="0" err="1">
                <a:latin typeface="Consolas" panose="020B0609020204030204" pitchFamily="49" charset="0"/>
              </a:rPr>
              <a:t>getDataFrame</a:t>
            </a:r>
            <a:r>
              <a:rPr lang="en-GB" dirty="0"/>
              <a:t>). </a:t>
            </a:r>
          </a:p>
          <a:p>
            <a:r>
              <a:rPr lang="en-GB" dirty="0"/>
              <a:t>The data contains three columns: Time, Acoustic, and Shear. The Acoustic signal is analogous to a seismic signal, the shear is analogous to the displacement of a tectonic plate during an earthquake. </a:t>
            </a:r>
          </a:p>
          <a:p>
            <a:pPr marL="0" indent="0">
              <a:buNone/>
            </a:pPr>
            <a:r>
              <a:rPr lang="en-GB" sz="1800" dirty="0"/>
              <a:t>*</a:t>
            </a:r>
            <a:r>
              <a:rPr lang="en-GB" sz="1800" dirty="0" err="1"/>
              <a:t>Rouet</a:t>
            </a:r>
            <a:r>
              <a:rPr lang="en-GB" sz="1800" dirty="0"/>
              <a:t>-Leduc, B., Hulbert, C., Lubbers, N., Barros, K., Humphreys, C. J., &amp; Johnson, P. A. 2017. “Machine Learning Predicts Laboratory Earthquakes.” </a:t>
            </a:r>
            <a:r>
              <a:rPr lang="en-GB" sz="1800" i="1" dirty="0"/>
              <a:t>Geophysical Research Letters</a:t>
            </a:r>
            <a:r>
              <a:rPr lang="en-GB" sz="1800" dirty="0"/>
              <a:t> 44 (18): 9276–82. </a:t>
            </a:r>
            <a:r>
              <a:rPr lang="en-GB" sz="1800" dirty="0">
                <a:hlinkClick r:id="rId2"/>
              </a:rPr>
              <a:t>https://doi.org/10.1002/2017GL074677</a:t>
            </a:r>
            <a:r>
              <a:rPr lang="en-GB" sz="1800" dirty="0"/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068030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B8D22-195C-41E1-84EE-BCF1B76A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 (Group B)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FCB5DC-4C7C-46DD-BF25-035B449F1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Extract the data files, split them into training and validation set, and use the provided class to load the data.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Split the data into 1-second windows. The data is sampled at 330 kHz, i.e. each window contains 330 000 data points.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Calculate the mean </a:t>
            </a:r>
            <a:r>
              <a:rPr lang="en-GB" u="sng" dirty="0"/>
              <a:t>Shear</a:t>
            </a:r>
            <a:r>
              <a:rPr lang="en-GB" dirty="0"/>
              <a:t> for each window and use it to identify earthquakes: The shear slowly builds up, but at some point it rapidly drops – this is an "earthquake".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For all the other windows, calculate the "time-to-failure" i.e. the number of seconds until the next earthquake. Use time-to-failure as the label.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Finally, remove all the windows that contain earthquakes (i.e. time-to-failure=0) from the dataset, since it does not make sense to predict earthquakes the moment they are happening.</a:t>
            </a:r>
          </a:p>
        </p:txBody>
      </p:sp>
    </p:spTree>
    <p:extLst>
      <p:ext uri="{BB962C8B-B14F-4D97-AF65-F5344CB8AC3E}">
        <p14:creationId xmlns:p14="http://schemas.microsoft.com/office/powerpoint/2010/main" val="12663850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B8D22-195C-41E1-84EE-BCF1B76A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 (Group B)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FCB5DC-4C7C-46DD-BF25-035B449F1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For each window, calculate at least </a:t>
            </a:r>
            <a:r>
              <a:rPr lang="en-US" b="1" dirty="0"/>
              <a:t>four</a:t>
            </a:r>
            <a:r>
              <a:rPr lang="en-US" dirty="0"/>
              <a:t> out of the following statistical quantities and save them in a csv file: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Mean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Variance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Skewedness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Kurtosis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Minimum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Maximum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percentile (0.01 quantile)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5</a:t>
            </a:r>
            <a:r>
              <a:rPr lang="en-US" baseline="30000" dirty="0"/>
              <a:t>th</a:t>
            </a:r>
            <a:r>
              <a:rPr lang="en-US" dirty="0"/>
              <a:t> percentile (0.05 quantile)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5</a:t>
            </a:r>
            <a:r>
              <a:rPr lang="en-US" baseline="30000" dirty="0"/>
              <a:t>th</a:t>
            </a:r>
            <a:r>
              <a:rPr lang="en-US" dirty="0"/>
              <a:t> percentile (0.10 quantile)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90</a:t>
            </a:r>
            <a:r>
              <a:rPr lang="en-US" baseline="30000" dirty="0"/>
              <a:t>th</a:t>
            </a:r>
            <a:r>
              <a:rPr lang="en-US" dirty="0"/>
              <a:t> percentile (0.90 quantile)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95</a:t>
            </a:r>
            <a:r>
              <a:rPr lang="en-US" baseline="30000" dirty="0"/>
              <a:t>th</a:t>
            </a:r>
            <a:r>
              <a:rPr lang="en-US" dirty="0"/>
              <a:t> percentile (0.95 quantile)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99</a:t>
            </a:r>
            <a:r>
              <a:rPr lang="en-US" baseline="30000" dirty="0"/>
              <a:t>th</a:t>
            </a:r>
            <a:r>
              <a:rPr lang="en-US" dirty="0"/>
              <a:t> percentile (0.99 quantile) The number of data points &gt; 1e-9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number of data points &gt; 1e-8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number of data points &gt; 1e-7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number of data points &lt; -1e-7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number of data points &lt; -1e-8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number of data points &lt; -1e-9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Bonus: It is possible to do all these tasks with Pandas </a:t>
            </a:r>
            <a:r>
              <a:rPr lang="en-US" u="sng" dirty="0"/>
              <a:t>without using any loops</a:t>
            </a:r>
            <a:r>
              <a:rPr lang="en-US" dirty="0"/>
              <a:t>. The functions </a:t>
            </a:r>
            <a:r>
              <a:rPr lang="en-US" dirty="0" err="1"/>
              <a:t>groupby</a:t>
            </a:r>
            <a:r>
              <a:rPr lang="en-US" dirty="0"/>
              <a:t>, </a:t>
            </a:r>
            <a:r>
              <a:rPr lang="en-US" dirty="0" err="1"/>
              <a:t>cumsum</a:t>
            </a:r>
            <a:r>
              <a:rPr lang="en-US" dirty="0"/>
              <a:t>, </a:t>
            </a:r>
            <a:r>
              <a:rPr lang="en-US" dirty="0" err="1"/>
              <a:t>cumcount</a:t>
            </a:r>
            <a:r>
              <a:rPr lang="en-US" dirty="0"/>
              <a:t>, and aggregate may be helpful.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0244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B8D22-195C-41E1-84EE-BCF1B76A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 (</a:t>
            </a:r>
            <a:r>
              <a:rPr lang="en-US"/>
              <a:t>Group B)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FCB5DC-4C7C-46DD-BF25-035B449F1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Train a random forest to predict time-to-failure using the statistical features.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Plot predicted and actual times-to-failure over time (like </a:t>
            </a:r>
            <a:r>
              <a:rPr lang="en-US" dirty="0" err="1"/>
              <a:t>Rouet</a:t>
            </a:r>
            <a:r>
              <a:rPr lang="en-US" dirty="0"/>
              <a:t>-Leduc et al., 2017)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Identify the most important feature and plot it together with time-to-failure vs. time.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Bonus: Test which hyper-parameters (</a:t>
            </a:r>
            <a:r>
              <a:rPr lang="en-US" dirty="0" err="1"/>
              <a:t>n_estimators</a:t>
            </a:r>
            <a:r>
              <a:rPr lang="en-US" dirty="0"/>
              <a:t>, </a:t>
            </a:r>
            <a:r>
              <a:rPr lang="en-US" dirty="0" err="1"/>
              <a:t>max_split</a:t>
            </a:r>
            <a:r>
              <a:rPr lang="en-US" dirty="0"/>
              <a:t>, </a:t>
            </a:r>
            <a:r>
              <a:rPr lang="en-US" dirty="0" err="1"/>
              <a:t>min_sample_split</a:t>
            </a:r>
            <a:r>
              <a:rPr lang="en-US" dirty="0"/>
              <a:t>, </a:t>
            </a:r>
            <a:r>
              <a:rPr lang="en-US" dirty="0" err="1"/>
              <a:t>min_samples_leaf</a:t>
            </a:r>
            <a:r>
              <a:rPr lang="en-US" dirty="0"/>
              <a:t>) yield the best parameters.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0100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F805D-F1E1-4B77-9865-F702DDE07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– Recommended Reading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94784-4584-438E-8480-0593F3051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Random Forest in Python, by Will </a:t>
            </a:r>
            <a:r>
              <a:rPr lang="en-US" dirty="0" err="1"/>
              <a:t>Koehrsen</a:t>
            </a:r>
            <a:r>
              <a:rPr lang="en-US" dirty="0"/>
              <a:t> from Towards Data Science: </a:t>
            </a:r>
            <a:r>
              <a:rPr lang="en-US" dirty="0">
                <a:hlinkClick r:id="rId2"/>
              </a:rPr>
              <a:t>https://towardsdatascience.com/random-forest-in-python-24d0893d51c0</a:t>
            </a:r>
            <a:r>
              <a:rPr lang="en-US" dirty="0"/>
              <a:t> </a:t>
            </a:r>
          </a:p>
          <a:p>
            <a:r>
              <a:rPr lang="en-US" dirty="0"/>
              <a:t>Understanding Random Forests Classifiers in Python, by </a:t>
            </a:r>
            <a:r>
              <a:rPr lang="en-US" dirty="0" err="1"/>
              <a:t>Avinash</a:t>
            </a:r>
            <a:r>
              <a:rPr lang="en-US" dirty="0"/>
              <a:t> </a:t>
            </a:r>
            <a:r>
              <a:rPr lang="en-US" dirty="0" err="1"/>
              <a:t>Navlani</a:t>
            </a:r>
            <a:r>
              <a:rPr lang="en-US" dirty="0"/>
              <a:t> from </a:t>
            </a:r>
            <a:r>
              <a:rPr lang="en-US" dirty="0" err="1"/>
              <a:t>DataCamp</a:t>
            </a:r>
            <a:r>
              <a:rPr lang="en-US" dirty="0"/>
              <a:t>: </a:t>
            </a:r>
            <a:r>
              <a:rPr lang="en-GB" dirty="0">
                <a:hlinkClick r:id="rId3"/>
              </a:rPr>
              <a:t>https://www.datacamp.com/community/tutorials/random-forests-classifier-python</a:t>
            </a:r>
            <a:endParaRPr lang="en-GB" dirty="0"/>
          </a:p>
          <a:p>
            <a:r>
              <a:rPr lang="en-US" dirty="0"/>
              <a:t>Random Forest Algorithm with Python and </a:t>
            </a:r>
            <a:r>
              <a:rPr lang="en-US" dirty="0" err="1"/>
              <a:t>Scikit</a:t>
            </a:r>
            <a:r>
              <a:rPr lang="en-US" dirty="0"/>
              <a:t>-Learn, by Usman Malik from Stack Abuse: </a:t>
            </a:r>
            <a:r>
              <a:rPr lang="en-GB" dirty="0">
                <a:hlinkClick r:id="rId4"/>
              </a:rPr>
              <a:t>https://stackabuse.com/random-forest-algorithm-with-python-and-scikit-learn/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48708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F805D-F1E1-4B77-9865-F702DDE07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– Optional Resources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94784-4584-438E-8480-0593F3051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Learning class by Kilian Weinberger from Cornell University, Lecture Notes, Lectures 17 and 18 on Decision Trees and Bagging </a:t>
            </a:r>
            <a:r>
              <a:rPr lang="en-GB" dirty="0">
                <a:hlinkClick r:id="rId2"/>
              </a:rPr>
              <a:t>http://www.cs.cornell.edu/courses/cs4780/2018fa/lectures/</a:t>
            </a:r>
            <a:r>
              <a:rPr lang="en-GB" dirty="0"/>
              <a:t> </a:t>
            </a:r>
          </a:p>
          <a:p>
            <a:r>
              <a:rPr lang="en-US" dirty="0"/>
              <a:t>Machine Learning class by Kilian Weinberger from Cornell University, Lecture Videos 29-31 on Decision Trees and Bagging </a:t>
            </a:r>
            <a:r>
              <a:rPr lang="en-GB" dirty="0">
                <a:hlinkClick r:id="rId3"/>
              </a:rPr>
              <a:t>https://www.youtube.com/playlist?list=PLl8OlHZGYOQ7bkVbuRthEsaLr7bONzbXS</a:t>
            </a:r>
            <a:r>
              <a:rPr lang="en-GB" dirty="0"/>
              <a:t> (uploaded on Blackboard)</a:t>
            </a:r>
          </a:p>
        </p:txBody>
      </p:sp>
    </p:spTree>
    <p:extLst>
      <p:ext uri="{BB962C8B-B14F-4D97-AF65-F5344CB8AC3E}">
        <p14:creationId xmlns:p14="http://schemas.microsoft.com/office/powerpoint/2010/main" val="1600490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7032</TotalTime>
  <Words>2145</Words>
  <Application>Microsoft Office PowerPoint</Application>
  <PresentationFormat>Widescreen</PresentationFormat>
  <Paragraphs>300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Consolas</vt:lpstr>
      <vt:lpstr>Office Theme</vt:lpstr>
      <vt:lpstr>Random Forests</vt:lpstr>
      <vt:lpstr>Decision Trees</vt:lpstr>
      <vt:lpstr>Decision Trees</vt:lpstr>
      <vt:lpstr>Decision Trees</vt:lpstr>
      <vt:lpstr>Decision Trees</vt:lpstr>
      <vt:lpstr>Decision Trees</vt:lpstr>
      <vt:lpstr>Decision Trees</vt:lpstr>
      <vt:lpstr>Decision Trees</vt:lpstr>
      <vt:lpstr>Decision Trees</vt:lpstr>
      <vt:lpstr>Decision Trees</vt:lpstr>
      <vt:lpstr>Decision Trees</vt:lpstr>
      <vt:lpstr>Decision Trees</vt:lpstr>
      <vt:lpstr>Decision Trees</vt:lpstr>
      <vt:lpstr>Decision Trees</vt:lpstr>
      <vt:lpstr>Random Forest</vt:lpstr>
      <vt:lpstr>Geomagnetic Storms</vt:lpstr>
      <vt:lpstr>Satellites: NOAA DSCOVR &amp; NASA ACE</vt:lpstr>
      <vt:lpstr>MagNet: Model the Geomagnetic Field</vt:lpstr>
      <vt:lpstr>Machine Learning Predicts Laboratory Earthquakes</vt:lpstr>
      <vt:lpstr>Machine Learning Predicts Laboratory Earthquakes</vt:lpstr>
      <vt:lpstr>Machine Learning Predicts Laboratory Earthquakes</vt:lpstr>
      <vt:lpstr>Seismic waves</vt:lpstr>
      <vt:lpstr>Seismic waves: Statistical features</vt:lpstr>
      <vt:lpstr>n_estimators</vt:lpstr>
      <vt:lpstr>max_depth</vt:lpstr>
      <vt:lpstr>min_sample_split</vt:lpstr>
      <vt:lpstr>min_samples_leaf</vt:lpstr>
      <vt:lpstr>K-fold cross-validation</vt:lpstr>
      <vt:lpstr>Exercise 4 (Group A)</vt:lpstr>
      <vt:lpstr>Exercise 4 (Group A)</vt:lpstr>
      <vt:lpstr>Exercise 4 (Group A)</vt:lpstr>
      <vt:lpstr>Exercise 4 (Group A)</vt:lpstr>
      <vt:lpstr>Exercise 4 (Group B)</vt:lpstr>
      <vt:lpstr>Exercise 4 (Group B)</vt:lpstr>
      <vt:lpstr>Exercise 4 (Group B)</vt:lpstr>
      <vt:lpstr>Exercise 4 (Group B)</vt:lpstr>
      <vt:lpstr>Random Forest – Recommended Reading </vt:lpstr>
      <vt:lpstr>Random Forest – Optional Resources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Subduction zone fault slip from seismic noise and GPS data</dc:title>
  <dc:creator>Thomas Berndt</dc:creator>
  <cp:lastModifiedBy>Thomas Berndt</cp:lastModifiedBy>
  <cp:revision>275</cp:revision>
  <dcterms:created xsi:type="dcterms:W3CDTF">2020-08-13T04:22:14Z</dcterms:created>
  <dcterms:modified xsi:type="dcterms:W3CDTF">2021-11-24T13:18:40Z</dcterms:modified>
</cp:coreProperties>
</file>